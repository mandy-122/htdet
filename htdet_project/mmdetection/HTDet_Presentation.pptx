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651760"/>
            <a:ext cx="12188952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60520"/>
            <a:ext cx="12188952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5A623"/>
                </a:solidFill>
              </a:rPr>
              <a:t>HTDet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A Lightweight Hybrid CNN-Transformer Detector
for Underwater Object Detection with FPGA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D0E8F8"/>
                </a:solidFill>
              </a:rPr>
              <a:t>MobileViT-S Backbone  ·  FPN Neck  ·  RetinaNet Head
Post-Training Quantization W8A32 / W8A8  ·  Vitis HLS C-Simulation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343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D0E8F8"/>
                </a:solidFill>
              </a:rPr>
              <a:t>Dataset: URPC 2018 Underwater  ·  4 Classes  ·  800 val images
Result: mAP@50 = 0.755 (FP32) → 0.753 (W8A8, −0.3% only)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AACC"/>
                </a:solidFill>
              </a:rPr>
              <a:t>demongod11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858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E8F8"/>
                </a:solidFill>
              </a:rPr>
              <a:t>Why is underwater object detection uniquely challenging?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7315200" cy="4389120"/>
          </a:xfrm>
          <a:prstGeom prst="rect">
            <a:avLst/>
          </a:prstGeom>
          <a:solidFill>
            <a:srgbClr val="FFFFFF"/>
          </a:solidFill>
          <a:ln w="10160">
            <a:solidFill>
              <a:srgbClr val="1A5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7315200" cy="292608"/>
          </a:xfrm>
          <a:prstGeom prst="rect">
            <a:avLst/>
          </a:prstGeom>
          <a:solidFill>
            <a:srgbClr val="D0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71016"/>
            <a:ext cx="7132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B55"/>
                </a:solidFill>
              </a:rPr>
              <a:t>Detection Challenges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545336"/>
            <a:ext cx="7095744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600" b="0">
                <a:solidFill>
                  <a:srgbClr val="1A1A2E"/>
                </a:solidFill>
              </a:rPr>
              <a:t>▸  Low contrast &amp; turbid water — organisms blend into backgrounds</a:t>
            </a:r>
          </a:p>
          <a:p>
            <a:pPr algn="l">
              <a:spcBef>
                <a:spcPts val="200"/>
              </a:spcBef>
            </a:pPr>
            <a:r>
              <a:rPr sz="1600" b="0">
                <a:solidFill>
                  <a:srgbClr val="1A1A2E"/>
                </a:solidFill>
              </a:rPr>
              <a:t>▸  Extreme scale variation — tiny sea urchin (10 px) to large starfish (200 px)</a:t>
            </a:r>
          </a:p>
          <a:p>
            <a:pPr algn="l">
              <a:spcBef>
                <a:spcPts val="200"/>
              </a:spcBef>
            </a:pPr>
            <a:r>
              <a:rPr sz="1600" b="0">
                <a:solidFill>
                  <a:srgbClr val="1A1A2E"/>
                </a:solidFill>
              </a:rPr>
              <a:t>▸  Class similarity — holothurian, echinus, scallop, starfish look alike</a:t>
            </a:r>
          </a:p>
          <a:p>
            <a:pPr algn="l">
              <a:spcBef>
                <a:spcPts val="200"/>
              </a:spcBef>
            </a:pPr>
            <a:r>
              <a:rPr sz="1600" b="0">
                <a:solidFill>
                  <a:srgbClr val="1A1A2E"/>
                </a:solidFill>
              </a:rPr>
              <a:t>▸  Small dataset — only ~2,400 URPC training images</a:t>
            </a:r>
          </a:p>
          <a:p>
            <a:pPr algn="l">
              <a:spcBef>
                <a:spcPts val="200"/>
              </a:spcBef>
            </a:pPr>
            <a:r>
              <a:rPr sz="1600" b="0">
                <a:solidFill>
                  <a:srgbClr val="1A1A2E"/>
                </a:solidFill>
              </a:rPr>
              <a:t>▸  Real-time FPGA deployment — must run in &lt;100 ms at 640×640</a:t>
            </a:r>
          </a:p>
          <a:p>
            <a:pPr algn="l">
              <a:spcBef>
                <a:spcPts val="200"/>
              </a:spcBef>
            </a:pPr>
            <a:r>
              <a:rPr sz="1600" b="0">
                <a:solidFill>
                  <a:srgbClr val="1A1A2E"/>
                </a:solidFill>
              </a:rPr>
              <a:t>▸  Memory budget — Xilinx ZU9EG has ~32 MB total BRAM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79" y="1234440"/>
            <a:ext cx="3840480" cy="4389120"/>
          </a:xfrm>
          <a:prstGeom prst="rect">
            <a:avLst/>
          </a:prstGeom>
          <a:solidFill>
            <a:srgbClr val="FFFFFF"/>
          </a:solidFill>
          <a:ln w="10160">
            <a:solidFill>
              <a:srgbClr val="1A5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55279" y="1234440"/>
            <a:ext cx="3840480" cy="292608"/>
          </a:xfrm>
          <a:prstGeom prst="rect">
            <a:avLst/>
          </a:prstGeom>
          <a:solidFill>
            <a:srgbClr val="1A5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65008" y="126187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Our 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173736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A558A"/>
                </a:solidFill>
              </a:rPr>
              <a:t>12.4 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21240" y="179222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Parameters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450591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A558A"/>
                </a:solidFill>
              </a:rPr>
              <a:t>198.9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21240" y="250545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GFLOPs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316382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A558A"/>
                </a:solidFill>
              </a:rPr>
              <a:t>0.755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21240" y="321868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mAP@50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3877056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A558A"/>
                </a:solidFill>
              </a:rPr>
              <a:t>0.408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21240" y="393192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mAP (0.5:0.95)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459028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A558A"/>
                </a:solidFill>
              </a:rPr>
              <a:t>40–60 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1240" y="4645151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FPGA latency (W8A8)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Architecture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858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E8F8"/>
                </a:solidFill>
              </a:rPr>
              <a:t>Three-stage detection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2148840" cy="1280160"/>
          </a:xfrm>
          <a:prstGeom prst="rect">
            <a:avLst/>
          </a:prstGeom>
          <a:solidFill>
            <a:srgbClr val="1A5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64208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Input Image
3×640×640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554480"/>
            <a:ext cx="2148840" cy="12801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1664208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MobileViT-S
Backbone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1554480"/>
            <a:ext cx="2148840" cy="12801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1664208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FPN Neck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0" y="1554480"/>
            <a:ext cx="2148840" cy="12801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1664208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RetinaNet
Head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0" y="1554480"/>
            <a:ext cx="2148840" cy="12801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0" y="1664208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2E"/>
                </a:solidFill>
              </a:rPr>
              <a:t>Detections
(cls, score, box)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192024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D2B55"/>
                </a:solidFill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192024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D2B55"/>
                </a:solidFill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192024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D2B55"/>
                </a:solidFill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192024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D2B55"/>
                </a:solidFill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2926080"/>
            <a:ext cx="2148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1A558A"/>
                </a:solidFill>
              </a:rPr>
              <a:t>C1[64,160,160]
C2[96,80,80]
C3[128,40,40]
C4[640,20,20]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2926080"/>
            <a:ext cx="2148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1A558A"/>
                </a:solidFill>
              </a:rPr>
              <a:t>P2[256,160,160]
P3[256,80,80]
P4[256,40,40]
P5[256,20,20]
P6[256,10,10]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2926080"/>
            <a:ext cx="2148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1A558A"/>
                </a:solidFill>
              </a:rPr>
              <a:t>cls scores
+
box deltas
(9 anchors/loc)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434840"/>
            <a:ext cx="3200400" cy="310896"/>
          </a:xfrm>
          <a:prstGeom prst="rect">
            <a:avLst/>
          </a:prstGeom>
          <a:solidFill>
            <a:srgbClr val="1A5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4" y="4480559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Component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66160" y="4434840"/>
            <a:ext cx="3200400" cy="310896"/>
          </a:xfrm>
          <a:prstGeom prst="rect">
            <a:avLst/>
          </a:prstGeom>
          <a:solidFill>
            <a:srgbClr val="1A5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21024" y="4480559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Type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66560" y="4434840"/>
            <a:ext cx="2286000" cy="310896"/>
          </a:xfrm>
          <a:prstGeom prst="rect">
            <a:avLst/>
          </a:prstGeom>
          <a:solidFill>
            <a:srgbClr val="1A5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21424" y="4480559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Params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52560" y="4434840"/>
            <a:ext cx="2286000" cy="310896"/>
          </a:xfrm>
          <a:prstGeom prst="rect">
            <a:avLst/>
          </a:prstGeom>
          <a:solidFill>
            <a:srgbClr val="1A5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07424" y="4480559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GFLOPs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745736"/>
            <a:ext cx="320040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0624" y="4782312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MobileViT-S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66160" y="4745736"/>
            <a:ext cx="320040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21024" y="4782312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Hybrid CNN-Transformer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66560" y="4745736"/>
            <a:ext cx="228600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21424" y="4782312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5.58 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052560" y="4745736"/>
            <a:ext cx="228600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07424" y="4782312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~70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5056631"/>
            <a:ext cx="320040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0624" y="5093207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FPN Neck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566160" y="5056631"/>
            <a:ext cx="320040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21024" y="5093207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Top-down pyramid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766560" y="5056631"/>
            <a:ext cx="228600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21424" y="5093207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1.97 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052560" y="5056631"/>
            <a:ext cx="228600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07424" y="5093207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~45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5367527"/>
            <a:ext cx="320040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0624" y="5404103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RetinaNet Head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566160" y="5367527"/>
            <a:ext cx="320040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21024" y="5404103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Dual conv towers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766560" y="5367527"/>
            <a:ext cx="228600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21424" y="5404103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4.86 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052560" y="5367527"/>
            <a:ext cx="228600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07424" y="5404103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~84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5678424"/>
            <a:ext cx="320040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20624" y="5715000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558A"/>
                </a:solidFill>
              </a:rPr>
              <a:t>Total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566160" y="5678424"/>
            <a:ext cx="320040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621024" y="5715000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766560" y="5678424"/>
            <a:ext cx="228600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821424" y="5715000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558A"/>
                </a:solidFill>
              </a:rPr>
              <a:t>12.41 M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052560" y="5678424"/>
            <a:ext cx="228600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107424" y="5715000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558A"/>
                </a:solidFill>
              </a:rPr>
              <a:t>198.9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Backbone: MobileViT-S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858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E8F8"/>
                </a:solidFill>
              </a:rPr>
              <a:t>Hybrid CNN-Transformer — local patterns + global context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7132320" cy="56692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32588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Input 640×640×3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1801368"/>
            <a:ext cx="457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2B55"/>
                </a:solidFill>
              </a:rPr>
              <a:t>↓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929384"/>
            <a:ext cx="7132320" cy="566928"/>
          </a:xfrm>
          <a:prstGeom prst="rect">
            <a:avLst/>
          </a:prstGeom>
          <a:solidFill>
            <a:srgbClr val="1A5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020824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Stem Conv 3×3 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496312"/>
            <a:ext cx="457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2B55"/>
                </a:solidFill>
              </a:rPr>
              <a:t>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624328"/>
            <a:ext cx="7132320" cy="566928"/>
          </a:xfrm>
          <a:prstGeom prst="rect">
            <a:avLst/>
          </a:prstGeom>
          <a:solidFill>
            <a:srgbClr val="1A5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715768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Stage 0–1: MBConv ×2  →  320×320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3191256"/>
            <a:ext cx="457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2B55"/>
                </a:solidFill>
              </a:rPr>
              <a:t>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319272"/>
            <a:ext cx="7132320" cy="56692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3410712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Stage 2: MBConv ×3  →  C1 [64, 160, 160]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3886200"/>
            <a:ext cx="457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2B55"/>
                </a:solidFill>
              </a:rPr>
              <a:t>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014216"/>
            <a:ext cx="7132320" cy="56692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4105656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Stage 3: MBConv + MobileViT(d=144,L=2)  →  C2 [96, 80, 80]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4581144"/>
            <a:ext cx="457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2B55"/>
                </a:solidFill>
              </a:rPr>
              <a:t>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709160"/>
            <a:ext cx="7132320" cy="56692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480060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Stage 4: MBConv×2 + MobileViT(d=192,L=4)  →  C3 [128, 40, 40]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5276088"/>
            <a:ext cx="4572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2B55"/>
                </a:solidFill>
              </a:rPr>
              <a:t>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5404104"/>
            <a:ext cx="7132320" cy="56692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5495544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Stage 5: MBConv×3 + MobileViT(d=240,L=3) + 1×1  →  C4 [640, 20, 20]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80960" y="1234440"/>
            <a:ext cx="4160520" cy="5212080"/>
          </a:xfrm>
          <a:prstGeom prst="rect">
            <a:avLst/>
          </a:prstGeom>
          <a:solidFill>
            <a:srgbClr val="FFFFFF"/>
          </a:solidFill>
          <a:ln w="10160">
            <a:solidFill>
              <a:srgbClr val="1A5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80960" y="1234440"/>
            <a:ext cx="4160520" cy="292608"/>
          </a:xfrm>
          <a:prstGeom prst="rect">
            <a:avLst/>
          </a:prstGeom>
          <a:solidFill>
            <a:srgbClr val="D0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0" y="1271016"/>
            <a:ext cx="3977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B55"/>
                </a:solidFill>
              </a:rPr>
              <a:t>Why MobileViT-S?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90688" y="1545336"/>
            <a:ext cx="3941063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300" b="0">
                <a:solidFill>
                  <a:srgbClr val="1A1A2E"/>
                </a:solidFill>
              </a:rPr>
              <a:t>▸  5.58 M backbone params vs ResNet-50's 25 M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1A1A2E"/>
                </a:solidFill>
              </a:rPr>
              <a:t>▸  ImageNet pretrained weights via TIMM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1A1A2E"/>
                </a:solidFill>
              </a:rPr>
              <a:t>▸  MBConv: depthwise-separable, ~28× cheaper than full 3×3 conv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1A1A2E"/>
                </a:solidFill>
              </a:rPr>
              <a:t>▸  MobileViT block: 2×2 patch unfolding → Transformer attention → fold back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1A1A2E"/>
                </a:solidFill>
              </a:rPr>
              <a:t>▸  SiLU activation — smooth, non-monotonic, better gradients than ReLU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1A1A2E"/>
                </a:solidFill>
              </a:rPr>
              <a:t>▸  Transformer only in stages 3–5 (smaller spatial maps = manageable cost)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Building Blocks: MBConv and MobileViT Block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858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E8F8"/>
                </a:solidFill>
              </a:rPr>
              <a:t>Local feature extraction and global context capture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5394960" cy="5120640"/>
          </a:xfrm>
          <a:prstGeom prst="rect">
            <a:avLst/>
          </a:prstGeom>
          <a:solidFill>
            <a:srgbClr val="FFFFFF"/>
          </a:solidFill>
          <a:ln w="10160">
            <a:solidFill>
              <a:srgbClr val="1A5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5394960" cy="292608"/>
          </a:xfrm>
          <a:prstGeom prst="rect">
            <a:avLst/>
          </a:prstGeom>
          <a:solidFill>
            <a:srgbClr val="1A5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26187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MBConv — Inverted Bottleneck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64208"/>
            <a:ext cx="4937760" cy="402336"/>
          </a:xfrm>
          <a:prstGeom prst="rect">
            <a:avLst/>
          </a:prstGeom>
          <a:solidFill>
            <a:srgbClr val="F4F6F8"/>
          </a:solidFill>
          <a:ln w="3810">
            <a:solidFill>
              <a:srgbClr val="1A5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7373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Input [H, W, C]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2066544"/>
            <a:ext cx="3657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558A"/>
                </a:solidFill>
              </a:rPr>
              <a:t>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176272"/>
            <a:ext cx="4937760" cy="402336"/>
          </a:xfrm>
          <a:prstGeom prst="rect">
            <a:avLst/>
          </a:prstGeom>
          <a:solidFill>
            <a:srgbClr val="BBDEFB"/>
          </a:solidFill>
          <a:ln w="3810">
            <a:solidFill>
              <a:srgbClr val="1A5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249424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1×1 Conv: C → 4C  [expand]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2578608"/>
            <a:ext cx="3657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558A"/>
                </a:solidFill>
              </a:rPr>
              <a:t>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688336"/>
            <a:ext cx="4937760" cy="402336"/>
          </a:xfrm>
          <a:prstGeom prst="rect">
            <a:avLst/>
          </a:prstGeom>
          <a:solidFill>
            <a:srgbClr val="F4F6F8"/>
          </a:solidFill>
          <a:ln w="3810">
            <a:solidFill>
              <a:srgbClr val="1A5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76148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BatchNorm + SiLU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3090672"/>
            <a:ext cx="3657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558A"/>
                </a:solidFill>
              </a:rPr>
              <a:t>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200400"/>
            <a:ext cx="4937760" cy="402336"/>
          </a:xfrm>
          <a:prstGeom prst="rect">
            <a:avLst/>
          </a:prstGeom>
          <a:solidFill>
            <a:srgbClr val="BBDEFB"/>
          </a:solidFill>
          <a:ln w="3810">
            <a:solidFill>
              <a:srgbClr val="1A5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27355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3×3 DW Conv: 4C → 4C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3602736"/>
            <a:ext cx="3657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558A"/>
                </a:solidFill>
              </a:rPr>
              <a:t>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712464"/>
            <a:ext cx="4937760" cy="402336"/>
          </a:xfrm>
          <a:prstGeom prst="rect">
            <a:avLst/>
          </a:prstGeom>
          <a:solidFill>
            <a:srgbClr val="F4F6F8"/>
          </a:solidFill>
          <a:ln w="3810">
            <a:solidFill>
              <a:srgbClr val="1A5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785616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BatchNorm + SiLU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4114800"/>
            <a:ext cx="3657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558A"/>
                </a:solidFill>
              </a:rPr>
              <a:t>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224528"/>
            <a:ext cx="4937760" cy="402336"/>
          </a:xfrm>
          <a:prstGeom prst="rect">
            <a:avLst/>
          </a:prstGeom>
          <a:solidFill>
            <a:srgbClr val="BBDEFB"/>
          </a:solidFill>
          <a:ln w="3810">
            <a:solidFill>
              <a:srgbClr val="1A5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2976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1×1 Conv: 4C → C  [project]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7480" y="4626864"/>
            <a:ext cx="3657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558A"/>
                </a:solidFill>
              </a:rPr>
              <a:t>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736592"/>
            <a:ext cx="4937760" cy="402336"/>
          </a:xfrm>
          <a:prstGeom prst="rect">
            <a:avLst/>
          </a:prstGeom>
          <a:solidFill>
            <a:srgbClr val="C8E6C9"/>
          </a:solidFill>
          <a:ln w="3810">
            <a:solidFill>
              <a:srgbClr val="1A5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809744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BatchNorm  +  Skip Add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97480" y="5138928"/>
            <a:ext cx="3657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558A"/>
                </a:solidFill>
              </a:rPr>
              <a:t>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248656"/>
            <a:ext cx="4937760" cy="402336"/>
          </a:xfrm>
          <a:prstGeom prst="rect">
            <a:avLst/>
          </a:prstGeom>
          <a:solidFill>
            <a:srgbClr val="F4F6F8"/>
          </a:solidFill>
          <a:ln w="3810">
            <a:solidFill>
              <a:srgbClr val="1A5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32180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Output [H, W, C]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89320" y="1234440"/>
            <a:ext cx="5852160" cy="5120640"/>
          </a:xfrm>
          <a:prstGeom prst="rect">
            <a:avLst/>
          </a:prstGeom>
          <a:solidFill>
            <a:srgbClr val="FFFFFF"/>
          </a:solidFill>
          <a:ln w="10160">
            <a:solidFill>
              <a:srgbClr val="1A5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989320" y="1234440"/>
            <a:ext cx="5852160" cy="292608"/>
          </a:xfrm>
          <a:prstGeom prst="rect">
            <a:avLst/>
          </a:prstGeom>
          <a:solidFill>
            <a:srgbClr val="1A5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99048" y="1261872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MobileViT Block — Global Attention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1664208"/>
            <a:ext cx="5394960" cy="347472"/>
          </a:xfrm>
          <a:prstGeom prst="rect">
            <a:avLst/>
          </a:prstGeom>
          <a:solidFill>
            <a:srgbClr val="F4F6F8"/>
          </a:solidFill>
          <a:ln w="3810">
            <a:solidFill>
              <a:srgbClr val="1A5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1728216"/>
            <a:ext cx="5212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Input [H, W, C]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78240" y="2011680"/>
            <a:ext cx="36576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558A"/>
                </a:solidFill>
              </a:rPr>
              <a:t>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2112264"/>
            <a:ext cx="5394960" cy="347472"/>
          </a:xfrm>
          <a:prstGeom prst="rect">
            <a:avLst/>
          </a:prstGeom>
          <a:solidFill>
            <a:srgbClr val="BBDEFB"/>
          </a:solidFill>
          <a:ln w="3810">
            <a:solidFill>
              <a:srgbClr val="1A5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9360" y="2176272"/>
            <a:ext cx="5212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3×3 Conv (local neighbourhood)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78240" y="2459736"/>
            <a:ext cx="36576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558A"/>
                </a:solidFill>
              </a:rPr>
              <a:t>↓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2560320"/>
            <a:ext cx="5394960" cy="347472"/>
          </a:xfrm>
          <a:prstGeom prst="rect">
            <a:avLst/>
          </a:prstGeom>
          <a:solidFill>
            <a:srgbClr val="BBDEFB"/>
          </a:solidFill>
          <a:ln w="3810">
            <a:solidFill>
              <a:srgbClr val="1A5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9360" y="2624327"/>
            <a:ext cx="5212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1×1 Conv → d channels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78240" y="2907791"/>
            <a:ext cx="36576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558A"/>
                </a:solidFill>
              </a:rPr>
              <a:t>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920" y="3008376"/>
            <a:ext cx="5394960" cy="347472"/>
          </a:xfrm>
          <a:prstGeom prst="rect">
            <a:avLst/>
          </a:prstGeom>
          <a:solidFill>
            <a:srgbClr val="FFE0B2"/>
          </a:solidFill>
          <a:ln w="3810">
            <a:solidFill>
              <a:srgbClr val="1A5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09360" y="3072384"/>
            <a:ext cx="5212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Unfold to 2×2 patches → P=4 views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78240" y="3355848"/>
            <a:ext cx="36576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558A"/>
                </a:solidFill>
              </a:rPr>
              <a:t>↓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17920" y="3456432"/>
            <a:ext cx="5394960" cy="347472"/>
          </a:xfrm>
          <a:prstGeom prst="rect">
            <a:avLst/>
          </a:prstGeom>
          <a:solidFill>
            <a:srgbClr val="FFCC80"/>
          </a:solidFill>
          <a:ln w="3810">
            <a:solidFill>
              <a:srgbClr val="1A5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9360" y="3520440"/>
            <a:ext cx="5212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Transformer × L  (self-attention)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78240" y="3803904"/>
            <a:ext cx="36576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558A"/>
                </a:solidFill>
              </a:rPr>
              <a:t>↓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17920" y="3904488"/>
            <a:ext cx="5394960" cy="347472"/>
          </a:xfrm>
          <a:prstGeom prst="rect">
            <a:avLst/>
          </a:prstGeom>
          <a:solidFill>
            <a:srgbClr val="FFE0B2"/>
          </a:solidFill>
          <a:ln w="3810">
            <a:solidFill>
              <a:srgbClr val="1A5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09360" y="3968496"/>
            <a:ext cx="5212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Fold back → [H, W, d]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78240" y="4251960"/>
            <a:ext cx="36576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558A"/>
                </a:solidFill>
              </a:rPr>
              <a:t>↓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17920" y="4352544"/>
            <a:ext cx="5394960" cy="347472"/>
          </a:xfrm>
          <a:prstGeom prst="rect">
            <a:avLst/>
          </a:prstGeom>
          <a:solidFill>
            <a:srgbClr val="BBDEFB"/>
          </a:solidFill>
          <a:ln w="3810">
            <a:solidFill>
              <a:srgbClr val="1A5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09360" y="4416552"/>
            <a:ext cx="5212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1×1 Conv → C channels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778240" y="4700016"/>
            <a:ext cx="36576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558A"/>
                </a:solidFill>
              </a:rPr>
              <a:t>↓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17920" y="4800600"/>
            <a:ext cx="5394960" cy="347472"/>
          </a:xfrm>
          <a:prstGeom prst="rect">
            <a:avLst/>
          </a:prstGeom>
          <a:solidFill>
            <a:srgbClr val="C8E6C9"/>
          </a:solidFill>
          <a:ln w="3810">
            <a:solidFill>
              <a:srgbClr val="1A5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09360" y="4864608"/>
            <a:ext cx="5212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3×3 Fusion Conv (concat → C)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778240" y="5148072"/>
            <a:ext cx="365760" cy="10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558A"/>
                </a:solidFill>
              </a:rPr>
              <a:t>↓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17920" y="5248656"/>
            <a:ext cx="5394960" cy="347472"/>
          </a:xfrm>
          <a:prstGeom prst="rect">
            <a:avLst/>
          </a:prstGeom>
          <a:solidFill>
            <a:srgbClr val="F4F6F8"/>
          </a:solidFill>
          <a:ln w="3810">
            <a:solidFill>
              <a:srgbClr val="1A5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09360" y="5312664"/>
            <a:ext cx="52120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Output [H, W, C]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Neck: Feature Pyramid Network (FPN)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858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E8F8"/>
                </a:solidFill>
              </a:rPr>
              <a:t>Merges multi-scale features — every level has detail AND semantics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70432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2B55"/>
                </a:solidFill>
              </a:rPr>
              <a:t>Backbone
Outputs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170432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2B55"/>
                </a:solidFill>
              </a:rPr>
              <a:t>FPN Pyramid
Levels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737360"/>
            <a:ext cx="2286000" cy="56692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1847088"/>
            <a:ext cx="21579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C4 [640, 20, 20]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40" y="1828800"/>
            <a:ext cx="1188720" cy="384048"/>
          </a:xfrm>
          <a:prstGeom prst="rect">
            <a:avLst/>
          </a:prstGeom>
          <a:solidFill>
            <a:srgbClr val="D0E8F8"/>
          </a:solidFill>
          <a:ln w="6350">
            <a:solidFill>
              <a:srgbClr val="1A5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60" y="188366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2B55"/>
                </a:solidFill>
              </a:rPr>
              <a:t>1×1 →256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188366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D2B55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1828800"/>
            <a:ext cx="1371600" cy="384048"/>
          </a:xfrm>
          <a:prstGeom prst="rect">
            <a:avLst/>
          </a:prstGeom>
          <a:solidFill>
            <a:srgbClr val="E3F2FD"/>
          </a:solidFill>
          <a:ln w="6350">
            <a:solidFill>
              <a:srgbClr val="1A5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5000" y="188366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2B55"/>
                </a:solidFill>
              </a:rPr>
              <a:t>3×3 conv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1737360"/>
            <a:ext cx="2194560" cy="56692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88352" y="1847088"/>
            <a:ext cx="206654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P5 [256, 20×20]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1883664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D2B55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560320"/>
            <a:ext cx="2286000" cy="566928"/>
          </a:xfrm>
          <a:prstGeom prst="rect">
            <a:avLst/>
          </a:prstGeom>
          <a:solidFill>
            <a:srgbClr val="1A5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2670048"/>
            <a:ext cx="21579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C3 [128, 40, 40]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34640" y="2651760"/>
            <a:ext cx="1188720" cy="384048"/>
          </a:xfrm>
          <a:prstGeom prst="rect">
            <a:avLst/>
          </a:prstGeom>
          <a:solidFill>
            <a:srgbClr val="D0E8F8"/>
          </a:solidFill>
          <a:ln w="6350">
            <a:solidFill>
              <a:srgbClr val="1A5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80360" y="270662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2B55"/>
                </a:solidFill>
              </a:rPr>
              <a:t>1×1 →256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6040" y="270662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D2B55"/>
                </a:solidFill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22860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009688"/>
                </a:solidFill>
              </a:rPr>
              <a:t>↓ up2×+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0" y="2651760"/>
            <a:ext cx="1371600" cy="384048"/>
          </a:xfrm>
          <a:prstGeom prst="rect">
            <a:avLst/>
          </a:prstGeom>
          <a:solidFill>
            <a:srgbClr val="E3F2FD"/>
          </a:solidFill>
          <a:ln w="6350">
            <a:solidFill>
              <a:srgbClr val="1A5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15000" y="270662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2B55"/>
                </a:solidFill>
              </a:rPr>
              <a:t>3×3 conv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0" y="2560320"/>
            <a:ext cx="2194560" cy="56692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88352" y="2670048"/>
            <a:ext cx="206654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P4 [256, 40×40]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2706624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D2B55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383280"/>
            <a:ext cx="2286000" cy="566928"/>
          </a:xfrm>
          <a:prstGeom prst="rect">
            <a:avLst/>
          </a:prstGeom>
          <a:solidFill>
            <a:srgbClr val="1A5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3493008"/>
            <a:ext cx="21579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C2 [ 96, 80, 80]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34640" y="3474720"/>
            <a:ext cx="1188720" cy="384048"/>
          </a:xfrm>
          <a:prstGeom prst="rect">
            <a:avLst/>
          </a:prstGeom>
          <a:solidFill>
            <a:srgbClr val="D0E8F8"/>
          </a:solidFill>
          <a:ln w="6350">
            <a:solidFill>
              <a:srgbClr val="1A5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80360" y="352958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2B55"/>
                </a:solidFill>
              </a:rPr>
              <a:t>1×1 →256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06040" y="352958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D2B55"/>
                </a:solidFill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0" y="31089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009688"/>
                </a:solidFill>
              </a:rPr>
              <a:t>↓ up2×+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0" y="3474720"/>
            <a:ext cx="1371600" cy="384048"/>
          </a:xfrm>
          <a:prstGeom prst="rect">
            <a:avLst/>
          </a:prstGeom>
          <a:solidFill>
            <a:srgbClr val="E3F2FD"/>
          </a:solidFill>
          <a:ln w="6350">
            <a:solidFill>
              <a:srgbClr val="1A5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15000" y="352958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2B55"/>
                </a:solidFill>
              </a:rPr>
              <a:t>3×3 conv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0" y="3383280"/>
            <a:ext cx="2194560" cy="56692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88352" y="3493008"/>
            <a:ext cx="206654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P3 [256, 80×80]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0" y="3529584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D2B55"/>
                </a:solidFill>
              </a:rPr>
              <a:t>→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4206240"/>
            <a:ext cx="2286000" cy="566928"/>
          </a:xfrm>
          <a:prstGeom prst="rect">
            <a:avLst/>
          </a:prstGeom>
          <a:solidFill>
            <a:srgbClr val="1A5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84048" y="4315968"/>
            <a:ext cx="21579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C1 [  64,160,160]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834640" y="4297679"/>
            <a:ext cx="1188720" cy="384048"/>
          </a:xfrm>
          <a:prstGeom prst="rect">
            <a:avLst/>
          </a:prstGeom>
          <a:solidFill>
            <a:srgbClr val="D0E8F8"/>
          </a:solidFill>
          <a:ln w="6350">
            <a:solidFill>
              <a:srgbClr val="1A5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880360" y="43525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2B55"/>
                </a:solidFill>
              </a:rPr>
              <a:t>1×1 →256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06040" y="435254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D2B55"/>
                </a:solidFill>
              </a:rPr>
              <a:t>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97680" y="3931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009688"/>
                </a:solidFill>
              </a:rPr>
              <a:t>↓ up2×+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69280" y="4297679"/>
            <a:ext cx="1371600" cy="384048"/>
          </a:xfrm>
          <a:prstGeom prst="rect">
            <a:avLst/>
          </a:prstGeom>
          <a:solidFill>
            <a:srgbClr val="E3F2FD"/>
          </a:solidFill>
          <a:ln w="6350">
            <a:solidFill>
              <a:srgbClr val="1A5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715000" y="435254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2B55"/>
                </a:solidFill>
              </a:rPr>
              <a:t>3×3 conv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15200" y="4206240"/>
            <a:ext cx="2194560" cy="56692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88352" y="4315968"/>
            <a:ext cx="206654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P2 [256,160×160]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32320" y="4352544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D2B55"/>
                </a:solidFill>
              </a:rPr>
              <a:t>→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315200" y="5029200"/>
            <a:ext cx="2194560" cy="566928"/>
          </a:xfrm>
          <a:prstGeom prst="rect">
            <a:avLst/>
          </a:prstGeom>
          <a:solidFill>
            <a:srgbClr val="1A5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88352" y="5138928"/>
            <a:ext cx="206654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P6 [256, 10×10]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834640" y="513892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558A"/>
                </a:solidFill>
              </a:rPr>
              <a:t>C4→3×3 s2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01200" y="1737360"/>
            <a:ext cx="502920" cy="310896"/>
          </a:xfrm>
          <a:prstGeom prst="rect">
            <a:avLst/>
          </a:prstGeom>
          <a:solidFill>
            <a:srgbClr val="1A5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656064" y="1783080"/>
            <a:ext cx="411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Level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104120" y="1737360"/>
            <a:ext cx="685800" cy="310896"/>
          </a:xfrm>
          <a:prstGeom prst="rect">
            <a:avLst/>
          </a:prstGeom>
          <a:solidFill>
            <a:srgbClr val="1A5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158984" y="1783080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Resolution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789920" y="1737360"/>
            <a:ext cx="548640" cy="310896"/>
          </a:xfrm>
          <a:prstGeom prst="rect">
            <a:avLst/>
          </a:prstGeom>
          <a:solidFill>
            <a:srgbClr val="1A5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844784" y="1783080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Stride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1338560" y="1737360"/>
            <a:ext cx="685800" cy="310896"/>
          </a:xfrm>
          <a:prstGeom prst="rect">
            <a:avLst/>
          </a:prstGeom>
          <a:solidFill>
            <a:srgbClr val="1A5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1393424" y="1783080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Detects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601200" y="2048255"/>
            <a:ext cx="50292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656064" y="2084831"/>
            <a:ext cx="411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P2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104120" y="2048255"/>
            <a:ext cx="68580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158984" y="2084831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160×160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789920" y="2048255"/>
            <a:ext cx="54864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844784" y="2084831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4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1338560" y="2048255"/>
            <a:ext cx="68580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1393424" y="2084831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Small (&lt;32 px)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601200" y="2359152"/>
            <a:ext cx="50292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656064" y="2395728"/>
            <a:ext cx="411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P3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104120" y="2359152"/>
            <a:ext cx="68580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158984" y="2395728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80×80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789920" y="2359152"/>
            <a:ext cx="54864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844784" y="2395728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8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1338560" y="2359152"/>
            <a:ext cx="68580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1393424" y="2395728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Small-medium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601200" y="2670048"/>
            <a:ext cx="50292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656064" y="2706624"/>
            <a:ext cx="411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P4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104120" y="2670048"/>
            <a:ext cx="68580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158984" y="2706624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40×40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789920" y="2670048"/>
            <a:ext cx="54864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844784" y="2706624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16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1338560" y="2670048"/>
            <a:ext cx="68580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1393424" y="2706624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Medium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601200" y="2980944"/>
            <a:ext cx="50292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656064" y="3017520"/>
            <a:ext cx="411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P5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0104120" y="2980944"/>
            <a:ext cx="68580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0158984" y="3017520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20×20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789920" y="2980944"/>
            <a:ext cx="54864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0844784" y="3017520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32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1338560" y="2980944"/>
            <a:ext cx="68580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1393424" y="3017520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Large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601200" y="3291840"/>
            <a:ext cx="50292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656064" y="3328416"/>
            <a:ext cx="411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P6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0104120" y="3291840"/>
            <a:ext cx="68580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0158984" y="3328416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10×10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0789920" y="3291840"/>
            <a:ext cx="54864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0844784" y="3328416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64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1338560" y="3291840"/>
            <a:ext cx="68580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1393424" y="3328416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Extra-large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Detection Head: RetinaNet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858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E8F8"/>
                </a:solidFill>
              </a:rPr>
              <a:t>Anchor-based dual-tower predictor at every FPN level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4114800" cy="5029200"/>
          </a:xfrm>
          <a:prstGeom prst="rect">
            <a:avLst/>
          </a:prstGeom>
          <a:solidFill>
            <a:srgbClr val="FFFFFF"/>
          </a:solidFill>
          <a:ln w="10160">
            <a:solidFill>
              <a:srgbClr val="1A5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4114800" cy="292608"/>
          </a:xfrm>
          <a:prstGeom prst="rect">
            <a:avLst/>
          </a:prstGeom>
          <a:solidFill>
            <a:srgbClr val="1A5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261872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Anchor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64208"/>
            <a:ext cx="374903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558A"/>
                </a:solidFill>
              </a:rPr>
              <a:t>9 anchors per spatial location</a:t>
            </a:r>
          </a:p>
          <a:p>
            <a:r>
              <a:rPr sz="1300" b="0">
                <a:solidFill>
                  <a:srgbClr val="1A1A2E"/>
                </a:solidFill>
              </a:rPr>
              <a:t>  3 scales: 4, 6, 8 × stride</a:t>
            </a:r>
          </a:p>
          <a:p>
            <a:r>
              <a:rPr sz="1300" b="0">
                <a:solidFill>
                  <a:srgbClr val="1A1A2E"/>
                </a:solidFill>
              </a:rPr>
              <a:t>  3 ratios: 0.5, 1.0, 2.0</a:t>
            </a:r>
          </a:p>
          <a:p>
            <a:r>
              <a:rPr sz="1300" b="0">
                <a:solidFill>
                  <a:srgbClr val="1A1A2E"/>
                </a:solidFill>
              </a:rPr>
              <a:t/>
            </a:r>
          </a:p>
          <a:p>
            <a:r>
              <a:rPr sz="1300" b="1">
                <a:solidFill>
                  <a:srgbClr val="1A558A"/>
                </a:solidFill>
              </a:rPr>
              <a:t>Total ~307,000 anchors / image:</a:t>
            </a:r>
          </a:p>
          <a:p>
            <a:r>
              <a:rPr sz="1300" b="0">
                <a:solidFill>
                  <a:srgbClr val="1A1A2E"/>
                </a:solidFill>
              </a:rPr>
              <a:t>  P2: 160×160×9 = 230,400</a:t>
            </a:r>
          </a:p>
          <a:p>
            <a:r>
              <a:rPr sz="1300" b="0">
                <a:solidFill>
                  <a:srgbClr val="1A1A2E"/>
                </a:solidFill>
              </a:rPr>
              <a:t>  P3:   80×80×9 =  57,600</a:t>
            </a:r>
          </a:p>
          <a:p>
            <a:r>
              <a:rPr sz="1300" b="0">
                <a:solidFill>
                  <a:srgbClr val="1A1A2E"/>
                </a:solidFill>
              </a:rPr>
              <a:t>  P4:   40×40×9 =  14,400</a:t>
            </a:r>
          </a:p>
          <a:p>
            <a:r>
              <a:rPr sz="1300" b="0">
                <a:solidFill>
                  <a:srgbClr val="1A1A2E"/>
                </a:solidFill>
              </a:rPr>
              <a:t>  P5:   20×20×9 =   3,600</a:t>
            </a:r>
          </a:p>
          <a:p>
            <a:r>
              <a:rPr sz="1300" b="0">
                <a:solidFill>
                  <a:srgbClr val="1A1A2E"/>
                </a:solidFill>
              </a:rPr>
              <a:t>  P6:   10×10×9 =     900</a:t>
            </a:r>
          </a:p>
          <a:p>
            <a:r>
              <a:rPr sz="1300" b="0">
                <a:solidFill>
                  <a:srgbClr val="1A1A2E"/>
                </a:solidFill>
              </a:rPr>
              <a:t/>
            </a:r>
          </a:p>
          <a:p>
            <a:r>
              <a:rPr sz="1300" b="1">
                <a:solidFill>
                  <a:srgbClr val="1A558A"/>
                </a:solidFill>
              </a:rPr>
              <a:t>Matching (training):</a:t>
            </a:r>
          </a:p>
          <a:p>
            <a:r>
              <a:rPr sz="1300" b="0">
                <a:solidFill>
                  <a:srgbClr val="1A1A2E"/>
                </a:solidFill>
              </a:rPr>
              <a:t>  IoU &gt; 0.50 → positive</a:t>
            </a:r>
          </a:p>
          <a:p>
            <a:r>
              <a:rPr sz="1300" b="0">
                <a:solidFill>
                  <a:srgbClr val="1A1A2E"/>
                </a:solidFill>
              </a:rPr>
              <a:t>  IoU &lt; 0.40 → negative</a:t>
            </a:r>
          </a:p>
          <a:p>
            <a:r>
              <a:rPr sz="1300" b="0">
                <a:solidFill>
                  <a:srgbClr val="1A1A2E"/>
                </a:solidFill>
              </a:rPr>
              <a:t>  0.40–0.50  → ignored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1234440"/>
            <a:ext cx="7132320" cy="5029200"/>
          </a:xfrm>
          <a:prstGeom prst="rect">
            <a:avLst/>
          </a:prstGeom>
          <a:solidFill>
            <a:srgbClr val="FFFFFF"/>
          </a:solidFill>
          <a:ln w="10160">
            <a:solidFill>
              <a:srgbClr val="1A5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63440" y="1234440"/>
            <a:ext cx="7132320" cy="292608"/>
          </a:xfrm>
          <a:prstGeom prst="rect">
            <a:avLst/>
          </a:prstGeom>
          <a:solidFill>
            <a:srgbClr val="1A5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73168" y="1261872"/>
            <a:ext cx="6949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Head Architecture (shared across all 5 FPN levels)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92040" y="1664208"/>
            <a:ext cx="6675120" cy="475488"/>
          </a:xfrm>
          <a:prstGeom prst="rect">
            <a:avLst/>
          </a:prstGeom>
          <a:solidFill>
            <a:srgbClr val="F4F6F8"/>
          </a:solidFill>
          <a:ln w="3810">
            <a:solidFill>
              <a:srgbClr val="1A5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83480" y="1755648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FPN feature map [256, H, W]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2139696"/>
            <a:ext cx="3657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558A"/>
                </a:solidFill>
              </a:rPr>
              <a:t>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92040" y="2249424"/>
            <a:ext cx="6675120" cy="475488"/>
          </a:xfrm>
          <a:prstGeom prst="rect">
            <a:avLst/>
          </a:prstGeom>
          <a:solidFill>
            <a:srgbClr val="BBDEFB"/>
          </a:solidFill>
          <a:ln w="3810">
            <a:solidFill>
              <a:srgbClr val="1A5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83480" y="2340864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Conv 3×3 [256→256]  (×4 stacked)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2724912"/>
            <a:ext cx="3657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558A"/>
                </a:solidFill>
              </a:rPr>
              <a:t>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92040" y="2834640"/>
            <a:ext cx="6675120" cy="475488"/>
          </a:xfrm>
          <a:prstGeom prst="rect">
            <a:avLst/>
          </a:prstGeom>
          <a:solidFill>
            <a:srgbClr val="F4F6F8"/>
          </a:solidFill>
          <a:ln w="3810">
            <a:solidFill>
              <a:srgbClr val="1A5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83480" y="2926080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(no GroupNorm as per URPC config)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3310128"/>
            <a:ext cx="3657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558A"/>
                </a:solidFill>
              </a:rPr>
              <a:t>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92040" y="3419856"/>
            <a:ext cx="6675120" cy="475488"/>
          </a:xfrm>
          <a:prstGeom prst="rect">
            <a:avLst/>
          </a:prstGeom>
          <a:solidFill>
            <a:srgbClr val="C8E6C9"/>
          </a:solidFill>
          <a:ln w="3810">
            <a:solidFill>
              <a:srgbClr val="1A5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83480" y="3511296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cls_pred: Conv [256→9×4 classes]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3895344"/>
            <a:ext cx="3657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558A"/>
                </a:solidFill>
              </a:rPr>
              <a:t>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92040" y="4005072"/>
            <a:ext cx="6675120" cy="475488"/>
          </a:xfrm>
          <a:prstGeom prst="rect">
            <a:avLst/>
          </a:prstGeom>
          <a:solidFill>
            <a:srgbClr val="C8E6C9"/>
          </a:solidFill>
          <a:ln w="3810">
            <a:solidFill>
              <a:srgbClr val="1A5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83480" y="4096511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→ sigmoid → class scores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4480560"/>
            <a:ext cx="3657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558A"/>
                </a:solidFill>
              </a:rPr>
              <a:t>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92040" y="4590288"/>
            <a:ext cx="6675120" cy="475488"/>
          </a:xfrm>
          <a:prstGeom prst="rect">
            <a:avLst/>
          </a:prstGeom>
          <a:solidFill>
            <a:srgbClr val="FFE0B2"/>
          </a:solidFill>
          <a:ln w="3810">
            <a:solidFill>
              <a:srgbClr val="1A5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83480" y="4681728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reg_pred: Conv [256→9×4 coords]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5065776"/>
            <a:ext cx="3657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558A"/>
                </a:solidFill>
              </a:rPr>
              <a:t>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92040" y="5175504"/>
            <a:ext cx="6675120" cy="475488"/>
          </a:xfrm>
          <a:prstGeom prst="rect">
            <a:avLst/>
          </a:prstGeom>
          <a:solidFill>
            <a:srgbClr val="FFE0B2"/>
          </a:solidFill>
          <a:ln w="3810">
            <a:solidFill>
              <a:srgbClr val="1A5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83480" y="5266944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→ delta-decode → bounding boxes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92040" y="5806440"/>
            <a:ext cx="3108960" cy="411480"/>
          </a:xfrm>
          <a:prstGeom prst="rect">
            <a:avLst/>
          </a:prstGeom>
          <a:solidFill>
            <a:srgbClr val="E8F5E9"/>
          </a:solidFill>
          <a:ln w="5080">
            <a:solidFill>
              <a:srgbClr val="1A5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83480" y="5852160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7D32"/>
                </a:solidFill>
              </a:rPr>
              <a:t>Loss: Focal Loss (γ=2, α=0.25) — down-weights easy negatives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0" y="5806440"/>
            <a:ext cx="2926080" cy="411480"/>
          </a:xfrm>
          <a:prstGeom prst="rect">
            <a:avLst/>
          </a:prstGeom>
          <a:solidFill>
            <a:srgbClr val="FFF3E0"/>
          </a:solidFill>
          <a:ln w="5080">
            <a:solidFill>
              <a:srgbClr val="1A5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21040" y="5852160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Post-process: score_thr=0.05 → NMS(IoU=0.5) → top-100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Training Results &amp; Baseline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858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E8F8"/>
                </a:solidFill>
              </a:rPr>
              <a:t>URPC val2018 — 800 images — 4 classes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2560320" cy="310896"/>
          </a:xfrm>
          <a:prstGeom prst="rect">
            <a:avLst/>
          </a:prstGeom>
          <a:solidFill>
            <a:srgbClr val="1A5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" y="1280160"/>
            <a:ext cx="24688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79" y="1234440"/>
            <a:ext cx="2286000" cy="310896"/>
          </a:xfrm>
          <a:prstGeom prst="rect">
            <a:avLst/>
          </a:prstGeom>
          <a:solidFill>
            <a:srgbClr val="1A5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80944" y="1280160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Backbone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79" y="1234440"/>
            <a:ext cx="1828800" cy="310896"/>
          </a:xfrm>
          <a:prstGeom prst="rect">
            <a:avLst/>
          </a:prstGeom>
          <a:solidFill>
            <a:srgbClr val="1A5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66943" y="1280160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Params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0879" y="1234440"/>
            <a:ext cx="1828800" cy="310896"/>
          </a:xfrm>
          <a:prstGeom prst="rect">
            <a:avLst/>
          </a:prstGeom>
          <a:solidFill>
            <a:srgbClr val="1A5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95743" y="1280160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mAP@50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69680" y="1234440"/>
            <a:ext cx="2926080" cy="310896"/>
          </a:xfrm>
          <a:prstGeom prst="rect">
            <a:avLst/>
          </a:prstGeom>
          <a:solidFill>
            <a:srgbClr val="1A5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24544" y="1280160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mAP (0.5:0.95)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1545336"/>
            <a:ext cx="256032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624" y="1581912"/>
            <a:ext cx="24688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SSD-300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26079" y="1545336"/>
            <a:ext cx="228600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80944" y="1581912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VGG-16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12079" y="1545336"/>
            <a:ext cx="182880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66943" y="1581912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26.3 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40879" y="1545336"/>
            <a:ext cx="182880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95743" y="1581912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~0.63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69680" y="1545336"/>
            <a:ext cx="292608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24544" y="1581912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~0.33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1856232"/>
            <a:ext cx="256032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624" y="1892808"/>
            <a:ext cx="24688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RetinaNet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26079" y="1856232"/>
            <a:ext cx="228600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80944" y="1892808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ResNet-50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12079" y="1856232"/>
            <a:ext cx="182880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66943" y="1892808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37.7 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40879" y="1856232"/>
            <a:ext cx="182880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95743" y="1892808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~0.71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69680" y="1856232"/>
            <a:ext cx="292608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24544" y="1892808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~0.38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2167128"/>
            <a:ext cx="256032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" y="2203704"/>
            <a:ext cx="24688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Faster RCNN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926079" y="2167128"/>
            <a:ext cx="228600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80944" y="2203704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ResNet-50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12079" y="2167128"/>
            <a:ext cx="182880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66943" y="2203704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41.4 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040879" y="2167128"/>
            <a:ext cx="182880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95743" y="2203704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~0.73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869680" y="2167128"/>
            <a:ext cx="292608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24544" y="2203704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~0.40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2478024"/>
            <a:ext cx="256032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20624" y="2514600"/>
            <a:ext cx="24688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YOLOv5-S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926079" y="2478024"/>
            <a:ext cx="228600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980944" y="2514600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CSPDarkNet-s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212079" y="2478024"/>
            <a:ext cx="182880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266943" y="2514600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7.2 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040879" y="2478024"/>
            <a:ext cx="182880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095743" y="2514600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~0.71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869680" y="2478024"/>
            <a:ext cx="292608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924544" y="2514600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~0.39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2788920"/>
            <a:ext cx="256032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0624" y="2825496"/>
            <a:ext cx="24688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558A"/>
                </a:solidFill>
              </a:rPr>
              <a:t>HTDet (ep42)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926079" y="2788920"/>
            <a:ext cx="228600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980944" y="2825496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MobileViT-S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212079" y="2788920"/>
            <a:ext cx="182880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266943" y="2825496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558A"/>
                </a:solidFill>
              </a:rPr>
              <a:t>12.4 M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40879" y="2788920"/>
            <a:ext cx="182880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095743" y="2825496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558A"/>
                </a:solidFill>
              </a:rPr>
              <a:t>0.762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869680" y="2788920"/>
            <a:ext cx="292608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924544" y="282549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558A"/>
                </a:solidFill>
              </a:rPr>
              <a:t>0.414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65760" y="3099816"/>
            <a:ext cx="256032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20624" y="3136392"/>
            <a:ext cx="24688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558A"/>
                </a:solidFill>
              </a:rPr>
              <a:t>HTDet (ep60)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926079" y="3099816"/>
            <a:ext cx="228600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980944" y="3136392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MobileViT-S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212079" y="3099816"/>
            <a:ext cx="182880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266943" y="3136392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558A"/>
                </a:solidFill>
              </a:rPr>
              <a:t>12.4 M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040879" y="3099816"/>
            <a:ext cx="182880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095743" y="3136392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558A"/>
                </a:solidFill>
              </a:rPr>
              <a:t>0.755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869680" y="3099816"/>
            <a:ext cx="292608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924544" y="3136392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558A"/>
                </a:solidFill>
              </a:rPr>
              <a:t>0.408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65760" y="4160520"/>
            <a:ext cx="7772400" cy="2468880"/>
          </a:xfrm>
          <a:prstGeom prst="rect">
            <a:avLst/>
          </a:prstGeom>
          <a:solidFill>
            <a:srgbClr val="FFFFFF"/>
          </a:solidFill>
          <a:ln w="10160">
            <a:solidFill>
              <a:srgbClr val="1A5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65760" y="4160520"/>
            <a:ext cx="7772400" cy="292608"/>
          </a:xfrm>
          <a:prstGeom prst="rect">
            <a:avLst/>
          </a:prstGeom>
          <a:solidFill>
            <a:srgbClr val="D0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57200" y="4197096"/>
            <a:ext cx="7589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B55"/>
                </a:solidFill>
              </a:rPr>
              <a:t>Key Takeaways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75488" y="4471416"/>
            <a:ext cx="7552944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500" b="0">
                <a:solidFill>
                  <a:srgbClr val="1A1A2E"/>
                </a:solidFill>
              </a:rPr>
              <a:t>▸  Peak mAP at epoch 42: 0.414 / mAP@50 = 0.762</a:t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1A1A2E"/>
                </a:solidFill>
              </a:rPr>
              <a:t>▸  Final epoch-60 checkpoint: mAP = 0.408 / mAP@50 = 0.755</a:t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1A1A2E"/>
                </a:solidFill>
              </a:rPr>
              <a:t>▸  Beats ResNet-50 Faster RCNN (41.4M) with only 12.4M params — 3× fewer</a:t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1A1A2E"/>
                </a:solidFill>
              </a:rPr>
              <a:t>▸  SGD lr=0.01, momentum=0.9, 60 epochs, step decay at 40 &amp; 55</a:t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1A1A2E"/>
                </a:solidFill>
              </a:rPr>
              <a:t>▸  MobileViT global attention helps with low-contrast underwater imagery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412480" y="4206240"/>
            <a:ext cx="1737360" cy="9144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522207" y="4279392"/>
            <a:ext cx="1517904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A1A2E"/>
                </a:solidFill>
              </a:rPr>
              <a:t>12.4 M
Params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241280" y="4206240"/>
            <a:ext cx="1737360" cy="914400"/>
          </a:xfrm>
          <a:prstGeom prst="rect">
            <a:avLst/>
          </a:prstGeom>
          <a:solidFill>
            <a:srgbClr val="1A5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351007" y="4279392"/>
            <a:ext cx="1517904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0.755
mAP@50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412480" y="5257800"/>
            <a:ext cx="1737360" cy="9144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522207" y="5330952"/>
            <a:ext cx="1517904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198.9
GFLOPs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0241280" y="5257800"/>
            <a:ext cx="1737360" cy="914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0351007" y="5330952"/>
            <a:ext cx="1517904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3× fewer
params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Python → C/HLS Conversion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858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E8F8"/>
                </a:solidFill>
              </a:rPr>
              <a:t>Hand-written C++ targeting Vitis HLS for FPGA synthesis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7132320" cy="2011680"/>
          </a:xfrm>
          <a:prstGeom prst="rect">
            <a:avLst/>
          </a:prstGeom>
          <a:solidFill>
            <a:srgbClr val="FFFFFF"/>
          </a:solidFill>
          <a:ln w="10160">
            <a:solidFill>
              <a:srgbClr val="1A5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7132320" cy="292608"/>
          </a:xfrm>
          <a:prstGeom prst="rect">
            <a:avLst/>
          </a:prstGeom>
          <a:solidFill>
            <a:srgbClr val="D0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71016"/>
            <a:ext cx="6949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B55"/>
                </a:solidFill>
              </a:rPr>
              <a:t>Motivation &amp; Strategy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545336"/>
            <a:ext cx="6912864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500" b="0">
                <a:solidFill>
                  <a:srgbClr val="1A1A2E"/>
                </a:solidFill>
              </a:rPr>
              <a:t>▸  PyTorch cannot synthesise to FPGA directly — need Vitis HLS C++</a:t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1A1A2E"/>
                </a:solidFill>
              </a:rPr>
              <a:t>▸  Strategy: mirror every layer in C++ → validate cosine similarity → then quantise</a:t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1A1A2E"/>
                </a:solidFill>
              </a:rPr>
              <a:t>▸  C-sim compiled with g++ -O3 -std=c++17; HLS synthesis uses Vitis HLS 2022+</a:t>
            </a:r>
          </a:p>
          <a:p>
            <a:pPr algn="l">
              <a:spcBef>
                <a:spcPts val="200"/>
              </a:spcBef>
            </a:pPr>
            <a:r>
              <a:rPr sz="1500" b="0">
                <a:solidFill>
                  <a:srgbClr val="1A1A2E"/>
                </a:solidFill>
              </a:rPr>
              <a:t>▸  HLS stubs (hls_stubs/) let g++ compile ap_fixed/ap_int/hls_stream without Xilinx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474720"/>
            <a:ext cx="2926080" cy="310896"/>
          </a:xfrm>
          <a:prstGeom prst="rect">
            <a:avLst/>
          </a:prstGeom>
          <a:solidFill>
            <a:srgbClr val="1A5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" y="3520439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File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3474720"/>
            <a:ext cx="8503920" cy="310896"/>
          </a:xfrm>
          <a:prstGeom prst="rect">
            <a:avLst/>
          </a:prstGeom>
          <a:solidFill>
            <a:srgbClr val="1A5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46704" y="3520439"/>
            <a:ext cx="8412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Role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785615"/>
            <a:ext cx="292608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4" y="3822191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fpga_types.h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3785615"/>
            <a:ext cx="850392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46704" y="3822191"/>
            <a:ext cx="8412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Precision typedefs — wint8_t, act8b*_t, acc_t=ap_fixed&lt;32,16&gt;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096511"/>
            <a:ext cx="292608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624" y="4133087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fpga_utils.h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0" y="4096511"/>
            <a:ext cx="850392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46704" y="4133087"/>
            <a:ext cx="8412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All conv primitives: 3×3, 1×1, depthwise, BN fusion, SiLU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407408"/>
            <a:ext cx="292608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624" y="4443984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mobilevit_backbone.h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0" y="4407408"/>
            <a:ext cx="850392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46704" y="4443984"/>
            <a:ext cx="8412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MobileViT-S: MBConv blocks + MobileViT Transformer blocks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718304"/>
            <a:ext cx="292608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624" y="4754880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fpn_neck.h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91840" y="4718304"/>
            <a:ext cx="850392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46704" y="4754880"/>
            <a:ext cx="8412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FPN top-down pyramid — lateral + output 3×3 convs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029200"/>
            <a:ext cx="292608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624" y="506577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retina_head.h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91840" y="5029200"/>
            <a:ext cx="850392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46704" y="5065776"/>
            <a:ext cx="8412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RetinaNet head — topK candidate filter + NMS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340096"/>
            <a:ext cx="292608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4" y="5376672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htdet_top.cpp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91840" y="5340096"/>
            <a:ext cx="850392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46704" y="5376672"/>
            <a:ext cx="8412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HLS entry points: backbone_only, fpn_only, full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5650992"/>
            <a:ext cx="292608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0624" y="5687568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testbench.cpp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91840" y="5650992"/>
            <a:ext cx="850392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46704" y="5687568"/>
            <a:ext cx="8412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C-sim driver — loads binary weights, runs inference, writes .txt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5989320"/>
            <a:ext cx="11430000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1A5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5488" y="5989320"/>
            <a:ext cx="1121054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300" b="0">
                <a:solidFill>
                  <a:srgbClr val="1A1A2E"/>
                </a:solidFill>
              </a:rPr>
              <a:t>▸  BN fused into conv at export: W_fused = W_conv × (γ/√(var+ε))  per output channel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1A1A2E"/>
                </a:solidFill>
              </a:rPr>
              <a:t>▸  Fused bias absorbs BN shift — zero runtime BN computation in C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1A1A2E"/>
                </a:solidFill>
              </a:rPr>
              <a:t>▸  RetinaNet head (no BN): exported as [weight, ones(C), bias] triples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Post-Training Quantization (PTQ)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858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E8F8"/>
                </a:solidFill>
              </a:rPr>
              <a:t>W8A32 → W8A8 — INT8 weights and activations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6217920" cy="2834640"/>
          </a:xfrm>
          <a:prstGeom prst="rect">
            <a:avLst/>
          </a:prstGeom>
          <a:solidFill>
            <a:srgbClr val="FFFFFF"/>
          </a:solidFill>
          <a:ln w="10160">
            <a:solidFill>
              <a:srgbClr val="1A5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6217920" cy="292608"/>
          </a:xfrm>
          <a:prstGeom prst="rect">
            <a:avLst/>
          </a:prstGeom>
          <a:solidFill>
            <a:srgbClr val="D0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271016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B55"/>
                </a:solidFill>
              </a:rPr>
              <a:t>PTQ 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545336"/>
            <a:ext cx="5998464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400" b="0">
                <a:solidFill>
                  <a:srgbClr val="1A1A2E"/>
                </a:solidFill>
              </a:rPr>
              <a:t>▸  W8A32: INT8 per-channel weights, FP32 activations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1A1A2E"/>
                </a:solidFill>
              </a:rPr>
              <a:t>▸  W8A8:  INT8 weights + INT8 fake-quantized activations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1A1A2E"/>
                </a:solidFill>
              </a:rPr>
              <a:t>▸  53 Conv2d layers quantized; Transformer Linear layers stay FP32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1A1A2E"/>
                </a:solidFill>
              </a:rPr>
              <a:t>▸  Calibration: 200 URPC val images (seed=42) via ptq_calibrate.py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1A1A2E"/>
                </a:solidFill>
              </a:rPr>
              <a:t>▸  2 mixed-precision outlier DW layers kept FP32 (ActMax &gt; 196)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1A1A2E"/>
                </a:solidFill>
              </a:rPr>
              <a:t>▸  All scale factors stored in weights/scales.json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12280" y="1234440"/>
            <a:ext cx="5029200" cy="2834640"/>
          </a:xfrm>
          <a:prstGeom prst="rect">
            <a:avLst/>
          </a:prstGeom>
          <a:solidFill>
            <a:srgbClr val="FFFFFF"/>
          </a:solidFill>
          <a:ln w="10160">
            <a:solidFill>
              <a:srgbClr val="1A5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12280" y="1234440"/>
            <a:ext cx="5029200" cy="2926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22008" y="126187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Fake Quantization (W8A8)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03720" y="1664208"/>
            <a:ext cx="4846320" cy="21945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13448" y="1755648"/>
            <a:ext cx="4626864" cy="2057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4D4D4"/>
                </a:solidFill>
                <a:latin typeface="Courier New"/>
              </a:rPr>
              <a:t>// INT8 round → clamp → dequantize (back to float)</a:t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>float q = roundf(act / scale);</a:t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>if (q &gt;  127) q =  127;</a:t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>if (q &lt; -128) q = -128;</a:t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>act = q * scale;  // still float32!</a:t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>// No int8_t stored — inject rounding error only</a:t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>// Matches exactly what real INT8 hardware produces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251960"/>
            <a:ext cx="2560320" cy="310896"/>
          </a:xfrm>
          <a:prstGeom prst="rect">
            <a:avLst/>
          </a:prstGeom>
          <a:solidFill>
            <a:srgbClr val="1A5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4904" y="4297680"/>
            <a:ext cx="24688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80360" y="4251960"/>
            <a:ext cx="1828800" cy="310896"/>
          </a:xfrm>
          <a:prstGeom prst="rect">
            <a:avLst/>
          </a:prstGeom>
          <a:solidFill>
            <a:srgbClr val="1A5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35224" y="4297680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Float32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9160" y="4251960"/>
            <a:ext cx="1828800" cy="310896"/>
          </a:xfrm>
          <a:prstGeom prst="rect">
            <a:avLst/>
          </a:prstGeom>
          <a:solidFill>
            <a:srgbClr val="1A5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64024" y="4297680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W8A32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37960" y="4251960"/>
            <a:ext cx="1828800" cy="310896"/>
          </a:xfrm>
          <a:prstGeom prst="rect">
            <a:avLst/>
          </a:prstGeom>
          <a:solidFill>
            <a:srgbClr val="1A5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92824" y="4297680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W8A8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66760" y="4251960"/>
            <a:ext cx="3474720" cy="310896"/>
          </a:xfrm>
          <a:prstGeom prst="rect">
            <a:avLst/>
          </a:prstGeom>
          <a:solidFill>
            <a:srgbClr val="1A5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21624" y="4297680"/>
            <a:ext cx="33832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Δ (F32→W8A8)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562856"/>
            <a:ext cx="256032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4904" y="4599432"/>
            <a:ext cx="24688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mAP (0.50:0.95)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80360" y="4562856"/>
            <a:ext cx="182880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35224" y="4599432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0.408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09160" y="4562856"/>
            <a:ext cx="182880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64024" y="4599432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0.407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37960" y="4562856"/>
            <a:ext cx="182880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92824" y="4599432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558A"/>
                </a:solidFill>
              </a:rPr>
              <a:t>0.407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66760" y="4562856"/>
            <a:ext cx="347472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21624" y="4599432"/>
            <a:ext cx="33832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−0.001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4873752"/>
            <a:ext cx="256032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4904" y="4910328"/>
            <a:ext cx="24688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mAP@50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80360" y="4873752"/>
            <a:ext cx="182880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35224" y="4910328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0.755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709160" y="4873752"/>
            <a:ext cx="182880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64024" y="4910328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0.753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37960" y="4873752"/>
            <a:ext cx="182880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2824" y="4910328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558A"/>
                </a:solidFill>
              </a:rPr>
              <a:t>0.753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66760" y="4873752"/>
            <a:ext cx="347472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21624" y="4910328"/>
            <a:ext cx="33832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−0.002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5184648"/>
            <a:ext cx="256032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74904" y="5221224"/>
            <a:ext cx="24688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mAP@75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880360" y="5184648"/>
            <a:ext cx="182880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935224" y="5221224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0.398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709160" y="5184648"/>
            <a:ext cx="182880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64024" y="5221224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0.395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37960" y="5184648"/>
            <a:ext cx="182880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92824" y="5221224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558A"/>
                </a:solidFill>
              </a:rPr>
              <a:t>0.396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366760" y="5184648"/>
            <a:ext cx="347472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421624" y="5221224"/>
            <a:ext cx="33832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−0.002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" y="5495544"/>
            <a:ext cx="256032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74904" y="5532120"/>
            <a:ext cx="24688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mAP (small)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880360" y="5495544"/>
            <a:ext cx="182880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935224" y="5532120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0.242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709160" y="5495544"/>
            <a:ext cx="182880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64024" y="5532120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0.239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37960" y="5495544"/>
            <a:ext cx="182880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592824" y="5532120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0.239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366760" y="5495544"/>
            <a:ext cx="347472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421624" y="5532120"/>
            <a:ext cx="33832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−0.003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0040" y="5806440"/>
            <a:ext cx="256032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74904" y="5843016"/>
            <a:ext cx="24688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mAP (medium)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880360" y="5806440"/>
            <a:ext cx="182880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935224" y="5843016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0.417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709160" y="5806440"/>
            <a:ext cx="182880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64024" y="5843016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0.416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537960" y="5806440"/>
            <a:ext cx="182880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592824" y="5843016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0.416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366760" y="5806440"/>
            <a:ext cx="347472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421624" y="5843016"/>
            <a:ext cx="33832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−0.001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20040" y="6117336"/>
            <a:ext cx="256032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74904" y="6153912"/>
            <a:ext cx="24688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mAP (large)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880360" y="6117336"/>
            <a:ext cx="182880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935224" y="6153912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0.515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709160" y="6117336"/>
            <a:ext cx="182880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764024" y="6153912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0.513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537960" y="6117336"/>
            <a:ext cx="182880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592824" y="6153912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0.513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366760" y="6117336"/>
            <a:ext cx="347472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421624" y="6153912"/>
            <a:ext cx="33832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−0.002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20040" y="6291072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A558A"/>
                </a:solidFill>
              </a:rPr>
              <a:t>All values: Python-evaluated (tools/test.py, 800 URPC val images). W8A8 = W8A32 accuracy — essentially lossless.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PTQ Hardware Benefits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858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E8F8"/>
                </a:solidFill>
              </a:rPr>
              <a:t>Memory, compute, and latency improvements on FPGA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2743200" cy="310896"/>
          </a:xfrm>
          <a:prstGeom prst="rect">
            <a:avLst/>
          </a:prstGeom>
          <a:solidFill>
            <a:srgbClr val="1A5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4" y="1280160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9" name="Rectangle 8"/>
          <p:cNvSpPr/>
          <p:nvPr/>
        </p:nvSpPr>
        <p:spPr>
          <a:xfrm>
            <a:off x="3063240" y="1234440"/>
            <a:ext cx="2011680" cy="310896"/>
          </a:xfrm>
          <a:prstGeom prst="rect">
            <a:avLst/>
          </a:prstGeom>
          <a:solidFill>
            <a:srgbClr val="1A5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18104" y="1280160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Float32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74920" y="1234440"/>
            <a:ext cx="2011680" cy="310896"/>
          </a:xfrm>
          <a:prstGeom prst="rect">
            <a:avLst/>
          </a:prstGeom>
          <a:solidFill>
            <a:srgbClr val="1A5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9784" y="1280160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W8A32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86600" y="1234440"/>
            <a:ext cx="2011680" cy="310896"/>
          </a:xfrm>
          <a:prstGeom prst="rect">
            <a:avLst/>
          </a:prstGeom>
          <a:solidFill>
            <a:srgbClr val="1A5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41464" y="1280160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W8A8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98280" y="1234440"/>
            <a:ext cx="2743200" cy="310896"/>
          </a:xfrm>
          <a:prstGeom prst="rect">
            <a:avLst/>
          </a:prstGeom>
          <a:solidFill>
            <a:srgbClr val="1A5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53144" y="1280160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W8A8 vs FP32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1545336"/>
            <a:ext cx="274320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4" y="1581912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Conv weight bytes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63240" y="1545336"/>
            <a:ext cx="201168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18104" y="1581912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49.7 MB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74920" y="1545336"/>
            <a:ext cx="201168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9784" y="1581912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9.49 MB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86600" y="1545336"/>
            <a:ext cx="201168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41464" y="1581912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9.49 MB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98280" y="1545336"/>
            <a:ext cx="274320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53144" y="1581912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558A"/>
                </a:solidFill>
              </a:rPr>
              <a:t>5.2×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1856232"/>
            <a:ext cx="274320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4904" y="189280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Activation bytes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63240" y="1856232"/>
            <a:ext cx="201168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18104" y="1892808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34.9 MB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74920" y="1856232"/>
            <a:ext cx="201168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29784" y="1892808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34.9 MB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86600" y="1856232"/>
            <a:ext cx="201168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41464" y="1892808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8.73 MB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98280" y="1856232"/>
            <a:ext cx="274320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53144" y="189280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558A"/>
                </a:solidFill>
              </a:rPr>
              <a:t>4×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2167128"/>
            <a:ext cx="274320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4" y="2203704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Total on-chip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063240" y="2167128"/>
            <a:ext cx="201168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118104" y="2203704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~84 MB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74920" y="2167128"/>
            <a:ext cx="201168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29784" y="2203704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~44 MB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086600" y="2167128"/>
            <a:ext cx="201168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41464" y="2203704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~18 MB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098280" y="2167128"/>
            <a:ext cx="274320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53144" y="2203704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558A"/>
                </a:solidFill>
              </a:rPr>
              <a:t>−79%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2478024"/>
            <a:ext cx="274320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4904" y="2514600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BRAM36 (estimated)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063240" y="2478024"/>
            <a:ext cx="201168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118104" y="2514600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~19,257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74920" y="2478024"/>
            <a:ext cx="201168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129784" y="2514600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~10,107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086600" y="2478024"/>
            <a:ext cx="201168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141464" y="2514600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~4,147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098280" y="2478024"/>
            <a:ext cx="274320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53144" y="2514600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558A"/>
                </a:solidFill>
              </a:rPr>
              <a:t>−78%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0040" y="2788920"/>
            <a:ext cx="274320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74904" y="2825496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DSPs per 8-MAC PE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063240" y="2788920"/>
            <a:ext cx="201168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118104" y="2825496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~24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074920" y="2788920"/>
            <a:ext cx="201168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129784" y="2825496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~24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86600" y="2788920"/>
            <a:ext cx="201168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141464" y="2825496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~2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098280" y="2788920"/>
            <a:ext cx="274320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153144" y="2825496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558A"/>
                </a:solidFill>
              </a:rPr>
              <a:t>−92%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20040" y="3099816"/>
            <a:ext cx="274320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74904" y="3136392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Weight BW multiplier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063240" y="3099816"/>
            <a:ext cx="201168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118104" y="3136392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1×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074920" y="3099816"/>
            <a:ext cx="201168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129784" y="3136392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4×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086600" y="3099816"/>
            <a:ext cx="201168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141464" y="3136392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4×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098280" y="3099816"/>
            <a:ext cx="274320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153144" y="3136392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20040" y="3410712"/>
            <a:ext cx="274320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74904" y="344728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Act BW multiplier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63240" y="3410712"/>
            <a:ext cx="201168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118104" y="3447288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1×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074920" y="3410712"/>
            <a:ext cx="201168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129784" y="3447288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1×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086600" y="3410712"/>
            <a:ext cx="201168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141464" y="3447288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4×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098280" y="3410712"/>
            <a:ext cx="274320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153144" y="344728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20040" y="3721608"/>
            <a:ext cx="274320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74904" y="3758184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Est. FPGA latency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063240" y="3721608"/>
            <a:ext cx="201168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118104" y="3758184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~500 ms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074920" y="3721608"/>
            <a:ext cx="201168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129784" y="3758184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~200 ms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086600" y="3721608"/>
            <a:ext cx="201168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141464" y="3758184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~40–60 ms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098280" y="3721608"/>
            <a:ext cx="274320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153144" y="3758184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558A"/>
                </a:solidFill>
              </a:rPr>
              <a:t>~8–12×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57200" y="4617720"/>
            <a:ext cx="2743200" cy="1463040"/>
          </a:xfrm>
          <a:prstGeom prst="rect">
            <a:avLst/>
          </a:prstGeom>
          <a:solidFill>
            <a:srgbClr val="1A5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66928" y="4690872"/>
            <a:ext cx="2523744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W8A32
Saves BRAM
2.5× faster</a:t>
            </a:r>
          </a:p>
        </p:txBody>
      </p:sp>
      <p:sp>
        <p:nvSpPr>
          <p:cNvPr id="99" name="Rectangle 98"/>
          <p:cNvSpPr/>
          <p:nvPr/>
        </p:nvSpPr>
        <p:spPr>
          <a:xfrm>
            <a:off x="3383280" y="4617720"/>
            <a:ext cx="3200400" cy="14630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3493008" y="4690872"/>
            <a:ext cx="2980944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W8A8
Saves BRAM + DSPs
8–12× faster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766560" y="4617720"/>
            <a:ext cx="2560320" cy="1463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876288" y="4690872"/>
            <a:ext cx="2340863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DSP48E2
4× INT8 MACs
per primitive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509760" y="4617720"/>
            <a:ext cx="2377440" cy="14630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619488" y="4690872"/>
            <a:ext cx="2157984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</a:rPr>
              <a:t>ZU9EG
Target FPGA
200 MHz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C-Sim Bug #1: TopK Truncation (Critical)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858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E8F8"/>
                </a:solidFill>
              </a:rPr>
              <a:t>Raster-order early exit silently dropped high-scoring detections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6187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62828"/>
                </a:solidFill>
              </a:rPr>
              <a:t>BROKEN — early exit on outer loops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600200"/>
            <a:ext cx="5486400" cy="21031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691640"/>
            <a:ext cx="5266944" cy="1965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D4D4D4"/>
                </a:solidFill>
                <a:latin typeface="Courier New"/>
              </a:rPr>
              <a:t>// Stops scanning once buffer is full!</a:t>
            </a:r>
          </a:p>
          <a:p>
            <a:r>
              <a:rPr sz="1000">
                <a:solidFill>
                  <a:srgbClr val="D4D4D4"/>
                </a:solidFill>
                <a:latin typeface="Courier New"/>
              </a:rPr>
              <a:t>// All detections in bottom-right are DROPPED</a:t>
            </a:r>
          </a:p>
          <a:p>
            <a:r>
              <a:rPr sz="1000">
                <a:solidFill>
                  <a:srgbClr val="D4D4D4"/>
                </a:solidFill>
                <a:latin typeface="Courier New"/>
              </a:rPr>
              <a:t>for (int h = 0; h &lt; H &amp;&amp; num_cand &lt; max_cand; h++)</a:t>
            </a:r>
          </a:p>
          <a:p>
            <a:r>
              <a:rPr sz="1000">
                <a:solidFill>
                  <a:srgbClr val="D4D4D4"/>
                </a:solidFill>
                <a:latin typeface="Courier New"/>
              </a:rPr>
              <a:t>  for (int w = 0; w &lt; W &amp;&amp; num_cand &lt; max_cand; w++)</a:t>
            </a:r>
          </a:p>
          <a:p>
            <a:r>
              <a:rPr sz="1000">
                <a:solidFill>
                  <a:srgbClr val="D4D4D4"/>
                </a:solidFill>
                <a:latin typeface="Courier New"/>
              </a:rPr>
              <a:t>    for (int c = 0; c &lt; NUM_CLASSES; c++) {</a:t>
            </a:r>
          </a:p>
          <a:p>
            <a:r>
              <a:rPr sz="1000">
                <a:solidFill>
                  <a:srgbClr val="D4D4D4"/>
                </a:solidFill>
                <a:latin typeface="Courier New"/>
              </a:rPr>
              <a:t>        score_t s = sigmoid(cls_logits[...]);</a:t>
            </a:r>
          </a:p>
          <a:p>
            <a:r>
              <a:rPr sz="1000">
                <a:solidFill>
                  <a:srgbClr val="D4D4D4"/>
                </a:solidFill>
                <a:latin typeface="Courier New"/>
              </a:rPr>
              <a:t>        if (s &lt; SCORE_THR) continue;</a:t>
            </a:r>
          </a:p>
          <a:p>
            <a:r>
              <a:rPr sz="1000">
                <a:solidFill>
                  <a:srgbClr val="D4D4D4"/>
                </a:solidFill>
                <a:latin typeface="Courier New"/>
              </a:rPr>
              <a:t>        cand[num_cand++] = ...; // early exit!</a:t>
            </a:r>
          </a:p>
          <a:p>
            <a:r>
              <a:rPr sz="1000">
                <a:solidFill>
                  <a:srgbClr val="D4D4D4"/>
                </a:solidFill>
                <a:latin typeface="Courier New"/>
              </a:rPr>
              <a:t>    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1261872"/>
            <a:ext cx="5852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D32"/>
                </a:solidFill>
              </a:rPr>
              <a:t>FIXED — true min-tracking top-K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600200"/>
            <a:ext cx="5852160" cy="34747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44768" y="1691640"/>
            <a:ext cx="5632704" cy="3337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D4D4D4"/>
                </a:solidFill>
                <a:latin typeface="Courier New"/>
              </a:rPr>
              <a:t>int num_cand=0; score_t buf_min=2.0f; int buf_min_idx=0;</a:t>
            </a:r>
          </a:p>
          <a:p>
            <a:r>
              <a:rPr sz="900">
                <a:solidFill>
                  <a:srgbClr val="D4D4D4"/>
                </a:solidFill>
                <a:latin typeface="Courier New"/>
              </a:rPr>
              <a:t>for (int h=0; h&lt;H; h++)          // scan ALL positions</a:t>
            </a:r>
          </a:p>
          <a:p>
            <a:r>
              <a:rPr sz="900">
                <a:solidFill>
                  <a:srgbClr val="D4D4D4"/>
                </a:solidFill>
                <a:latin typeface="Courier New"/>
              </a:rPr>
              <a:t>  for (int w=0; w&lt;W; w++)</a:t>
            </a:r>
          </a:p>
          <a:p>
            <a:r>
              <a:rPr sz="900">
                <a:solidFill>
                  <a:srgbClr val="D4D4D4"/>
                </a:solidFill>
                <a:latin typeface="Courier New"/>
              </a:rPr>
              <a:t>    for (int c=0; c&lt;NUM_CLASSES; c++) {</a:t>
            </a:r>
          </a:p>
          <a:p>
            <a:r>
              <a:rPr sz="900">
                <a:solidFill>
                  <a:srgbClr val="D4D4D4"/>
                </a:solidFill>
                <a:latin typeface="Courier New"/>
              </a:rPr>
              <a:t>        score_t s = sigmoid(cls_logits[...]);</a:t>
            </a:r>
          </a:p>
          <a:p>
            <a:r>
              <a:rPr sz="900">
                <a:solidFill>
                  <a:srgbClr val="D4D4D4"/>
                </a:solidFill>
                <a:latin typeface="Courier New"/>
              </a:rPr>
              <a:t>        if (s &lt; SCORE_THR) continue;</a:t>
            </a:r>
          </a:p>
          <a:p>
            <a:r>
              <a:rPr sz="900">
                <a:solidFill>
                  <a:srgbClr val="D4D4D4"/>
                </a:solidFill>
                <a:latin typeface="Courier New"/>
              </a:rPr>
              <a:t>        if (num_cand &lt; max_cand) {</a:t>
            </a:r>
          </a:p>
          <a:p>
            <a:r>
              <a:rPr sz="900">
                <a:solidFill>
                  <a:srgbClr val="D4D4D4"/>
                </a:solidFill>
                <a:latin typeface="Courier New"/>
              </a:rPr>
              <a:t>            cand[num_cand]=s;</a:t>
            </a:r>
          </a:p>
          <a:p>
            <a:r>
              <a:rPr sz="900">
                <a:solidFill>
                  <a:srgbClr val="D4D4D4"/>
                </a:solidFill>
                <a:latin typeface="Courier New"/>
              </a:rPr>
              <a:t>            if (s &lt; buf_min){buf_min=s; buf_min_idx=num_cand;}</a:t>
            </a:r>
          </a:p>
          <a:p>
            <a:r>
              <a:rPr sz="900">
                <a:solidFill>
                  <a:srgbClr val="D4D4D4"/>
                </a:solidFill>
                <a:latin typeface="Courier New"/>
              </a:rPr>
              <a:t>            num_cand++;</a:t>
            </a:r>
          </a:p>
          <a:p>
            <a:r>
              <a:rPr sz="900">
                <a:solidFill>
                  <a:srgbClr val="D4D4D4"/>
                </a:solidFill>
                <a:latin typeface="Courier New"/>
              </a:rPr>
              <a:t>        } else if (s &gt; buf_min) {   // displace minimum</a:t>
            </a:r>
          </a:p>
          <a:p>
            <a:r>
              <a:rPr sz="900">
                <a:solidFill>
                  <a:srgbClr val="D4D4D4"/>
                </a:solidFill>
                <a:latin typeface="Courier New"/>
              </a:rPr>
              <a:t>            cand[buf_min_idx]=s;</a:t>
            </a:r>
          </a:p>
          <a:p>
            <a:r>
              <a:rPr sz="900">
                <a:solidFill>
                  <a:srgbClr val="D4D4D4"/>
                </a:solidFill>
                <a:latin typeface="Courier New"/>
              </a:rPr>
              <a:t>            // rescan buffer for new minimum</a:t>
            </a:r>
          </a:p>
          <a:p>
            <a:r>
              <a:rPr sz="900">
                <a:solidFill>
                  <a:srgbClr val="D4D4D4"/>
                </a:solidFill>
                <a:latin typeface="Courier New"/>
              </a:rPr>
              <a:t>            buf_min=cand[0]; buf_min_idx=0;</a:t>
            </a:r>
          </a:p>
          <a:p>
            <a:r>
              <a:rPr sz="900">
                <a:solidFill>
                  <a:srgbClr val="D4D4D4"/>
                </a:solidFill>
                <a:latin typeface="Courier New"/>
              </a:rPr>
              <a:t>            for(int k=1;k&lt;num_cand;k++)</a:t>
            </a:r>
          </a:p>
          <a:p>
            <a:r>
              <a:rPr sz="900">
                <a:solidFill>
                  <a:srgbClr val="D4D4D4"/>
                </a:solidFill>
                <a:latin typeface="Courier New"/>
              </a:rPr>
              <a:t>              if(cand[k]&lt;buf_min){buf_min=cand[k];buf_min_idx=k;}</a:t>
            </a:r>
          </a:p>
          <a:p>
            <a:r>
              <a:rPr sz="900">
                <a:solidFill>
                  <a:srgbClr val="D4D4D4"/>
                </a:solidFill>
                <a:latin typeface="Courier New"/>
              </a:rPr>
              <a:t>        }</a:t>
            </a:r>
          </a:p>
          <a:p>
            <a:r>
              <a:rPr sz="900">
                <a:solidFill>
                  <a:srgbClr val="D4D4D4"/>
                </a:solidFill>
                <a:latin typeface="Courier New"/>
              </a:rPr>
              <a:t>    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840480"/>
            <a:ext cx="11521440" cy="2240280"/>
          </a:xfrm>
          <a:prstGeom prst="rect">
            <a:avLst/>
          </a:prstGeom>
          <a:solidFill>
            <a:srgbClr val="FFFFFF"/>
          </a:solidFill>
          <a:ln w="10160">
            <a:solidFill>
              <a:srgbClr val="1A5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3840480"/>
            <a:ext cx="11521440" cy="292608"/>
          </a:xfrm>
          <a:prstGeom prst="rect">
            <a:avLst/>
          </a:prstGeom>
          <a:solidFill>
            <a:srgbClr val="D0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79" y="3877056"/>
            <a:ext cx="11338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B55"/>
                </a:solidFill>
              </a:rPr>
              <a:t>Impact &amp; Root Cause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" y="4151376"/>
            <a:ext cx="11301984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400" b="0">
                <a:solidFill>
                  <a:srgbClr val="1A1A2E"/>
                </a:solidFill>
              </a:rPr>
              <a:t>▸  Impact: CHN083846_0291 had 37 Python reference detections spread across the full image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1A1A2E"/>
                </a:solidFill>
              </a:rPr>
              <a:t>▸  Broken version silently dropped 6–8 detections per FPN level from bottom-right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1A1A2E"/>
                </a:solidFill>
              </a:rPr>
              <a:t>▸  After fix: CHN recall 83.8%, YDXJ recall 100%, GOPR recall 84.2%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1A1A2E"/>
                </a:solidFill>
              </a:rPr>
              <a:t>▸  Root cause: HLS fixed-size buffer requires early-stop idiom — but C-sim must use true topK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C-Sim Bugs #2 &amp; #3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858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E8F8"/>
                </a:solidFill>
              </a:rPr>
              <a:t>Exp clamp too wide + OpenMP label conflict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5577840" cy="5120640"/>
          </a:xfrm>
          <a:prstGeom prst="rect">
            <a:avLst/>
          </a:prstGeom>
          <a:solidFill>
            <a:srgbClr val="FFFFFF"/>
          </a:solidFill>
          <a:ln w="10160">
            <a:solidFill>
              <a:srgbClr val="1A5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5577840" cy="29260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261872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Bug #2 — Exp Clamp Too Wide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664208"/>
            <a:ext cx="5303520" cy="23774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755648"/>
            <a:ext cx="5084064" cy="2240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4D4D4"/>
                </a:solidFill>
                <a:latin typeface="Courier New"/>
              </a:rPr>
              <a:t>// BEFORE: ±4.135 clamp</a:t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>// expf(4.135) ≈ 62.5 → box 62× anchor size</a:t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>if (dw &lt; -4.135f) dw = -4.135f;</a:t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>if (dw &gt;  4.135f) dw =  4.135f;</a:t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/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>// AFTER: ±2.5 clamp</a:t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>// expf(2.5) ≈ 12.2 → safe maximum box size</a:t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>if (dw &lt; -2.5f) dw = -2.5f;</a:t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>if (dw &gt;  2.5f) dw =  2.5f;</a:t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>if (dh &lt; -2.5f) dh = -2.5f;</a:t>
            </a:r>
          </a:p>
          <a:p>
            <a:r>
              <a:rPr sz="1100">
                <a:solidFill>
                  <a:srgbClr val="D4D4D4"/>
                </a:solidFill>
                <a:latin typeface="Courier New"/>
              </a:rPr>
              <a:t>if (dh &gt;  2.5f) dh =  2.5f;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60520"/>
            <a:ext cx="5303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300">
                <a:solidFill>
                  <a:srgbClr val="1A1A2E"/>
                </a:solidFill>
              </a:rPr>
              <a:t>▸  Why: quantisation noise can push dw/dh slightly above the clamp.</a:t>
            </a:r>
          </a:p>
          <a:p>
            <a:r>
              <a:rPr sz="1300">
                <a:solidFill>
                  <a:srgbClr val="1A1A2E"/>
                </a:solidFill>
              </a:rPr>
              <a:t>▸  At ±4.135 this creates 62× oversized boxes polluting NMS.</a:t>
            </a:r>
          </a:p>
          <a:p>
            <a:r>
              <a:rPr sz="1300">
                <a:solidFill>
                  <a:srgbClr val="1A1A2E"/>
                </a:solidFill>
              </a:rPr>
              <a:t>▸  ±2.5 still covers any real object vs anchor but prevents blowup.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234440"/>
            <a:ext cx="5669280" cy="5120640"/>
          </a:xfrm>
          <a:prstGeom prst="rect">
            <a:avLst/>
          </a:prstGeom>
          <a:solidFill>
            <a:srgbClr val="FFFFFF"/>
          </a:solidFill>
          <a:ln w="10160">
            <a:solidFill>
              <a:srgbClr val="1A5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234440"/>
            <a:ext cx="5669280" cy="2926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81928" y="126187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Bug #3 — HLS Label vs OpenMP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664208"/>
            <a:ext cx="5394960" cy="29260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1755648"/>
            <a:ext cx="5175504" cy="2788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D4D4D4"/>
                </a:solidFill>
                <a:latin typeface="Courier New"/>
              </a:rPr>
              <a:t>// BROKEN — label between pragma and for</a:t>
            </a:r>
          </a:p>
          <a:p>
            <a:r>
              <a:rPr sz="1000">
                <a:solidFill>
                  <a:srgbClr val="D4D4D4"/>
                </a:solidFill>
                <a:latin typeface="Courier New"/>
              </a:rPr>
              <a:t>#pragma omp parallel for schedule(static)</a:t>
            </a:r>
          </a:p>
          <a:p>
            <a:r>
              <a:rPr sz="1000">
                <a:solidFill>
                  <a:srgbClr val="D4D4D4"/>
                </a:solidFill>
                <a:latin typeface="Courier New"/>
              </a:rPr>
              <a:t>C3X3_OC:                   // GCC error here!</a:t>
            </a:r>
          </a:p>
          <a:p>
            <a:r>
              <a:rPr sz="1000">
                <a:solidFill>
                  <a:srgbClr val="D4D4D4"/>
                </a:solidFill>
                <a:latin typeface="Courier New"/>
              </a:rPr>
              <a:t>for (int oc = 0; oc &lt; OC; oc++) { ... }</a:t>
            </a:r>
          </a:p>
          <a:p>
            <a:r>
              <a:rPr sz="1000">
                <a:solidFill>
                  <a:srgbClr val="D4D4D4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D4D4D4"/>
                </a:solidFill>
                <a:latin typeface="Courier New"/>
              </a:rPr>
              <a:t>// Error: 'for statement expected before C3X3_OC'</a:t>
            </a:r>
          </a:p>
          <a:p>
            <a:r>
              <a:rPr sz="1000">
                <a:solidFill>
                  <a:srgbClr val="D4D4D4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D4D4D4"/>
                </a:solidFill>
                <a:latin typeface="Courier New"/>
              </a:rPr>
              <a:t>// FIXED — remove HLS label, keep pragma</a:t>
            </a:r>
          </a:p>
          <a:p>
            <a:r>
              <a:rPr sz="1000">
                <a:solidFill>
                  <a:srgbClr val="D4D4D4"/>
                </a:solidFill>
                <a:latin typeface="Courier New"/>
              </a:rPr>
              <a:t>#pragma omp parallel for schedule(static)</a:t>
            </a:r>
          </a:p>
          <a:p>
            <a:r>
              <a:rPr sz="1000">
                <a:solidFill>
                  <a:srgbClr val="D4D4D4"/>
                </a:solidFill>
                <a:latin typeface="Courier New"/>
              </a:rPr>
              <a:t>for (int oc = 0; oc &lt; OC; oc++) { ... }</a:t>
            </a:r>
          </a:p>
          <a:p>
            <a:r>
              <a:rPr sz="1000">
                <a:solidFill>
                  <a:srgbClr val="D4D4D4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D4D4D4"/>
                </a:solidFill>
                <a:latin typeface="Courier New"/>
              </a:rPr>
              <a:t>// HLS labels are Vitis-only synthesis hints,</a:t>
            </a:r>
          </a:p>
          <a:p>
            <a:r>
              <a:rPr sz="1000">
                <a:solidFill>
                  <a:srgbClr val="D4D4D4"/>
                </a:solidFill>
                <a:latin typeface="Courier New"/>
              </a:rPr>
              <a:t>// completely ignored by g++ (safe to remove).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4709160"/>
            <a:ext cx="5394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300">
                <a:solidFill>
                  <a:srgbClr val="1A1A2E"/>
                </a:solidFill>
              </a:rPr>
              <a:t>▸  HLS loop labels rename loops in Vitis synthesis reports only.</a:t>
            </a:r>
          </a:p>
          <a:p>
            <a:r>
              <a:rPr sz="1300">
                <a:solidFill>
                  <a:srgbClr val="1A1A2E"/>
                </a:solidFill>
              </a:rPr>
              <a:t>▸  GCC's OpenMP requires 'for' to immediately follow the pragma.</a:t>
            </a:r>
          </a:p>
          <a:p>
            <a:r>
              <a:rPr sz="1300">
                <a:solidFill>
                  <a:srgbClr val="1A1A2E"/>
                </a:solidFill>
              </a:rPr>
              <a:t>▸  Removed from all 8 parallelised outer loops — no HLS impact.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C-Sim Performance: OpenMP CPU Parallelism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858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E8F8"/>
                </a:solidFill>
              </a:rPr>
              <a:t>10× speedup — from 51 minutes to under 5 minutes per image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5577840" cy="3291840"/>
          </a:xfrm>
          <a:prstGeom prst="rect">
            <a:avLst/>
          </a:prstGeom>
          <a:solidFill>
            <a:srgbClr val="FFFFFF"/>
          </a:solidFill>
          <a:ln w="10160">
            <a:solidFill>
              <a:srgbClr val="1A5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5577840" cy="292608"/>
          </a:xfrm>
          <a:prstGeom prst="rect">
            <a:avLst/>
          </a:prstGeom>
          <a:solidFill>
            <a:srgbClr val="D0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271016"/>
            <a:ext cx="53949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B55"/>
                </a:solidFill>
              </a:rPr>
              <a:t>Problem &amp;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545336"/>
            <a:ext cx="5358383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400" b="0">
                <a:solidFill>
                  <a:srgbClr val="1A1A2E"/>
                </a:solidFill>
              </a:rPr>
              <a:t>▸  C-sim runs all 12.41 M params on a single CPU thread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1A1A2E"/>
                </a:solidFill>
              </a:rPr>
              <a:t>▸  MobileViT stage-3 Transformer: O(N²) attention, N=1600 tokens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1A1A2E"/>
                </a:solidFill>
              </a:rPr>
              <a:t>▸  Full 640×640 image: ~51 minutes single-threaded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1A1A2E"/>
                </a:solidFill>
              </a:rPr>
              <a:t>▸  Solution: #pragma omp parallel for on outer OC loop of every conv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1A1A2E"/>
                </a:solidFill>
              </a:rPr>
              <a:t>▸  Each OC iteration writes to a disjoint output slice → no false sharing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1A1A2E"/>
                </a:solidFill>
              </a:rPr>
              <a:t>▸  Compiled with: g++ -O3 -std=c++17 -fopenmp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4800600"/>
            <a:ext cx="1645920" cy="310896"/>
          </a:xfrm>
          <a:prstGeom prst="rect">
            <a:avLst/>
          </a:prstGeom>
          <a:solidFill>
            <a:srgbClr val="1A5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4" y="4846320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Mode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65960" y="4800600"/>
            <a:ext cx="1645920" cy="310896"/>
          </a:xfrm>
          <a:prstGeom prst="rect">
            <a:avLst/>
          </a:prstGeom>
          <a:solidFill>
            <a:srgbClr val="1A5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20824" y="4846320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Runtime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11880" y="4800600"/>
            <a:ext cx="1828800" cy="310896"/>
          </a:xfrm>
          <a:prstGeom prst="rect">
            <a:avLst/>
          </a:prstGeom>
          <a:solidFill>
            <a:srgbClr val="1A5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66744" y="4846320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CPU Utilisation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40680" y="4800600"/>
            <a:ext cx="457200" cy="310896"/>
          </a:xfrm>
          <a:prstGeom prst="rect">
            <a:avLst/>
          </a:prstGeom>
          <a:solidFill>
            <a:srgbClr val="1A5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95544" y="4846320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Speedup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5111496"/>
            <a:ext cx="164592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4" y="5148072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Single-threaded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65960" y="5111496"/>
            <a:ext cx="164592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20824" y="5148072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~51 min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11880" y="5111496"/>
            <a:ext cx="182880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66744" y="5148072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~100% (1 core)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40680" y="5111496"/>
            <a:ext cx="45720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95544" y="5148072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1×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5422392"/>
            <a:ext cx="164592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4904" y="5458968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558A"/>
                </a:solidFill>
              </a:rPr>
              <a:t>OpenMP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65960" y="5422392"/>
            <a:ext cx="164592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20824" y="5458968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558A"/>
                </a:solidFill>
              </a:rPr>
              <a:t>~4 min 54 sec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11880" y="5422392"/>
            <a:ext cx="182880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66744" y="5458968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558A"/>
                </a:solidFill>
              </a:rPr>
              <a:t>~1881% (~18.8 cores)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40680" y="5422392"/>
            <a:ext cx="45720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95544" y="5458968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558A"/>
                </a:solidFill>
              </a:rPr>
              <a:t>~10×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40" y="1234440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55"/>
                </a:solidFill>
              </a:rPr>
              <a:t>Pattern applied to all 8 major conv functions: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1664208"/>
            <a:ext cx="5852160" cy="46634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44768" y="1755648"/>
            <a:ext cx="5632704" cy="45262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D4D4D4"/>
                </a:solidFill>
                <a:latin typeface="Courier New"/>
              </a:rPr>
              <a:t>// fpga_utils.h — conv3x3_bn_silu (example)</a:t>
            </a:r>
          </a:p>
          <a:p>
            <a:r>
              <a:rPr sz="900">
                <a:solidFill>
                  <a:srgbClr val="D4D4D4"/>
                </a:solidFill>
                <a:latin typeface="Courier New"/>
              </a:rPr>
              <a:t>#ifdef _OPENMP</a:t>
            </a:r>
          </a:p>
          <a:p>
            <a:r>
              <a:rPr sz="900">
                <a:solidFill>
                  <a:srgbClr val="D4D4D4"/>
                </a:solidFill>
                <a:latin typeface="Courier New"/>
              </a:rPr>
              <a:t>#include &lt;omp.h&gt;</a:t>
            </a:r>
          </a:p>
          <a:p>
            <a:r>
              <a:rPr sz="900">
                <a:solidFill>
                  <a:srgbClr val="D4D4D4"/>
                </a:solidFill>
                <a:latin typeface="Courier New"/>
              </a:rPr>
              <a:t>#endif</a:t>
            </a:r>
          </a:p>
          <a:p>
            <a:r>
              <a:rPr sz="900">
                <a:solidFill>
                  <a:srgbClr val="D4D4D4"/>
                </a:solidFill>
                <a:latin typeface="Courier New"/>
              </a:rPr>
              <a:t/>
            </a:r>
          </a:p>
          <a:p>
            <a:r>
              <a:rPr sz="900">
                <a:solidFill>
                  <a:srgbClr val="D4D4D4"/>
                </a:solidFill>
                <a:latin typeface="Courier New"/>
              </a:rPr>
              <a:t>void conv3x3_bn_silu(float* in, float* w, float* b,</a:t>
            </a:r>
          </a:p>
          <a:p>
            <a:r>
              <a:rPr sz="900">
                <a:solidFill>
                  <a:srgbClr val="D4D4D4"/>
                </a:solidFill>
                <a:latin typeface="Courier New"/>
              </a:rPr>
              <a:t>                     float* out, int IC, int OC, ...) {</a:t>
            </a:r>
          </a:p>
          <a:p>
            <a:r>
              <a:rPr sz="900">
                <a:solidFill>
                  <a:srgbClr val="D4D4D4"/>
                </a:solidFill>
                <a:latin typeface="Courier New"/>
              </a:rPr>
              <a:t/>
            </a:r>
          </a:p>
          <a:p>
            <a:r>
              <a:rPr sz="900">
                <a:solidFill>
                  <a:srgbClr val="D4D4D4"/>
                </a:solidFill>
                <a:latin typeface="Courier New"/>
              </a:rPr>
              <a:t>    #pragma omp parallel for schedule(static)</a:t>
            </a:r>
          </a:p>
          <a:p>
            <a:r>
              <a:rPr sz="900">
                <a:solidFill>
                  <a:srgbClr val="D4D4D4"/>
                </a:solidFill>
                <a:latin typeface="Courier New"/>
              </a:rPr>
              <a:t>    for (int oc = 0; oc &lt; OC; oc++) {</a:t>
            </a:r>
          </a:p>
          <a:p>
            <a:r>
              <a:rPr sz="900">
                <a:solidFill>
                  <a:srgbClr val="D4D4D4"/>
                </a:solidFill>
                <a:latin typeface="Courier New"/>
              </a:rPr>
              <a:t>        for (int h = 0; h &lt; OH; h++) {</a:t>
            </a:r>
          </a:p>
          <a:p>
            <a:r>
              <a:rPr sz="900">
                <a:solidFill>
                  <a:srgbClr val="D4D4D4"/>
                </a:solidFill>
                <a:latin typeface="Courier New"/>
              </a:rPr>
              <a:t>            for (int w_i = 0; w_i &lt; OW; w_i++) {</a:t>
            </a:r>
          </a:p>
          <a:p>
            <a:r>
              <a:rPr sz="900">
                <a:solidFill>
                  <a:srgbClr val="D4D4D4"/>
                </a:solidFill>
                <a:latin typeface="Courier New"/>
              </a:rPr>
              <a:t>                float acc = bias[oc];</a:t>
            </a:r>
          </a:p>
          <a:p>
            <a:r>
              <a:rPr sz="900">
                <a:solidFill>
                  <a:srgbClr val="D4D4D4"/>
                </a:solidFill>
                <a:latin typeface="Courier New"/>
              </a:rPr>
              <a:t>                for (int ic=0; ic&lt;IC; ic++)</a:t>
            </a:r>
          </a:p>
          <a:p>
            <a:r>
              <a:rPr sz="900">
                <a:solidFill>
                  <a:srgbClr val="D4D4D4"/>
                </a:solidFill>
                <a:latin typeface="Courier New"/>
              </a:rPr>
              <a:t>                    for (int kh=0; kh&lt;3; kh++)</a:t>
            </a:r>
          </a:p>
          <a:p>
            <a:r>
              <a:rPr sz="900">
                <a:solidFill>
                  <a:srgbClr val="D4D4D4"/>
                </a:solidFill>
                <a:latin typeface="Courier New"/>
              </a:rPr>
              <a:t>                        for (int kw=0; kw&lt;3; kw++)</a:t>
            </a:r>
          </a:p>
          <a:p>
            <a:r>
              <a:rPr sz="900">
                <a:solidFill>
                  <a:srgbClr val="D4D4D4"/>
                </a:solidFill>
                <a:latin typeface="Courier New"/>
              </a:rPr>
              <a:t>                            acc += in[...] * w[...];</a:t>
            </a:r>
          </a:p>
          <a:p>
            <a:r>
              <a:rPr sz="900">
                <a:solidFill>
                  <a:srgbClr val="D4D4D4"/>
                </a:solidFill>
                <a:latin typeface="Courier New"/>
              </a:rPr>
              <a:t>                out[oc*OH*OW + h*OW + w_i] = silu(acc);</a:t>
            </a:r>
          </a:p>
          <a:p>
            <a:r>
              <a:rPr sz="900">
                <a:solidFill>
                  <a:srgbClr val="D4D4D4"/>
                </a:solidFill>
                <a:latin typeface="Courier New"/>
              </a:rPr>
              <a:t>            }</a:t>
            </a:r>
          </a:p>
          <a:p>
            <a:r>
              <a:rPr sz="900">
                <a:solidFill>
                  <a:srgbClr val="D4D4D4"/>
                </a:solidFill>
                <a:latin typeface="Courier New"/>
              </a:rPr>
              <a:t>        }</a:t>
            </a:r>
          </a:p>
          <a:p>
            <a:r>
              <a:rPr sz="900">
                <a:solidFill>
                  <a:srgbClr val="D4D4D4"/>
                </a:solidFill>
                <a:latin typeface="Courier New"/>
              </a:rPr>
              <a:t>    }</a:t>
            </a:r>
          </a:p>
          <a:p>
            <a:r>
              <a:rPr sz="900">
                <a:solidFill>
                  <a:srgbClr val="D4D4D4"/>
                </a:solidFill>
                <a:latin typeface="Courier New"/>
              </a:rPr>
              <a:t>}  // HLS #pragma directives inside are ignored by g++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C-Sim W8A8 Validation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858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E8F8"/>
                </a:solidFill>
              </a:rPr>
              <a:t>3 URPC val images — IoU-matched vs PyTorch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2377440" cy="310896"/>
          </a:xfrm>
          <a:prstGeom prst="rect">
            <a:avLst/>
          </a:prstGeom>
          <a:solidFill>
            <a:srgbClr val="1A5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4" y="1280160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Image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2697480" y="1234440"/>
            <a:ext cx="1280160" cy="310896"/>
          </a:xfrm>
          <a:prstGeom prst="rect">
            <a:avLst/>
          </a:prstGeom>
          <a:solidFill>
            <a:srgbClr val="1A5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52344" y="1280160"/>
            <a:ext cx="11887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Python ref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77639" y="1234440"/>
            <a:ext cx="1280160" cy="310896"/>
          </a:xfrm>
          <a:prstGeom prst="rect">
            <a:avLst/>
          </a:prstGeom>
          <a:solidFill>
            <a:srgbClr val="1A5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32503" y="1280160"/>
            <a:ext cx="11887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W8A8 C-sim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57800" y="1234440"/>
            <a:ext cx="1188720" cy="310896"/>
          </a:xfrm>
          <a:prstGeom prst="rect">
            <a:avLst/>
          </a:prstGeom>
          <a:solidFill>
            <a:srgbClr val="1A5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12664" y="1280160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Recall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46520" y="1234440"/>
            <a:ext cx="1280160" cy="310896"/>
          </a:xfrm>
          <a:prstGeom prst="rect">
            <a:avLst/>
          </a:prstGeom>
          <a:solidFill>
            <a:srgbClr val="1A5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01383" y="1280160"/>
            <a:ext cx="11887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Precision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26679" y="1234440"/>
            <a:ext cx="640080" cy="310896"/>
          </a:xfrm>
          <a:prstGeom prst="rect">
            <a:avLst/>
          </a:prstGeom>
          <a:solidFill>
            <a:srgbClr val="1A5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81544" y="1280160"/>
            <a:ext cx="548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66759" y="1234440"/>
            <a:ext cx="1280160" cy="310896"/>
          </a:xfrm>
          <a:prstGeom prst="rect">
            <a:avLst/>
          </a:prstGeom>
          <a:solidFill>
            <a:srgbClr val="1A5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21624" y="1280160"/>
            <a:ext cx="11887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Avg IoU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46919" y="1234440"/>
            <a:ext cx="1280160" cy="310896"/>
          </a:xfrm>
          <a:prstGeom prst="rect">
            <a:avLst/>
          </a:prstGeom>
          <a:solidFill>
            <a:srgbClr val="1A5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01784" y="1280160"/>
            <a:ext cx="11887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Avg |ΔScore|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1545336"/>
            <a:ext cx="237744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4904" y="158191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YDXJ0001_10003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97480" y="1545336"/>
            <a:ext cx="128016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52344" y="1581912"/>
            <a:ext cx="11887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77639" y="1545336"/>
            <a:ext cx="128016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32503" y="1581912"/>
            <a:ext cx="11887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57800" y="1545336"/>
            <a:ext cx="118872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12664" y="1581912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100.0%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46520" y="1545336"/>
            <a:ext cx="128016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01383" y="1581912"/>
            <a:ext cx="11887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87.5%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26679" y="1545336"/>
            <a:ext cx="64008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81544" y="1581912"/>
            <a:ext cx="548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66759" y="1545336"/>
            <a:ext cx="128016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21624" y="1581912"/>
            <a:ext cx="11887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0.932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46919" y="1545336"/>
            <a:ext cx="128016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01784" y="1581912"/>
            <a:ext cx="11887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0.0099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1856232"/>
            <a:ext cx="237744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4904" y="1892808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CHN083846_0291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697480" y="1856232"/>
            <a:ext cx="128016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52344" y="1892808"/>
            <a:ext cx="11887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37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977639" y="1856232"/>
            <a:ext cx="128016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032503" y="1892808"/>
            <a:ext cx="11887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34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257800" y="1856232"/>
            <a:ext cx="118872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12664" y="189280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83.8%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46520" y="1856232"/>
            <a:ext cx="128016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01383" y="1892808"/>
            <a:ext cx="11887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91.2%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26679" y="1856232"/>
            <a:ext cx="64008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81544" y="1892808"/>
            <a:ext cx="548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366759" y="1856232"/>
            <a:ext cx="128016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21624" y="1892808"/>
            <a:ext cx="11887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0.911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1856232"/>
            <a:ext cx="128016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701784" y="1892808"/>
            <a:ext cx="11887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0.0128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" y="2167128"/>
            <a:ext cx="237744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74904" y="2203704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GOPR0293_10229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697480" y="2167128"/>
            <a:ext cx="128016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52344" y="2203704"/>
            <a:ext cx="11887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19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977639" y="2167128"/>
            <a:ext cx="128016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032503" y="2203704"/>
            <a:ext cx="11887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19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257800" y="2167128"/>
            <a:ext cx="118872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312664" y="220370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84.2%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46520" y="2167128"/>
            <a:ext cx="128016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501383" y="2203704"/>
            <a:ext cx="11887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84.2%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726679" y="2167128"/>
            <a:ext cx="64008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781544" y="2203704"/>
            <a:ext cx="548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3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366759" y="2167128"/>
            <a:ext cx="128016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421624" y="2203704"/>
            <a:ext cx="11887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0.908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646919" y="2167128"/>
            <a:ext cx="128016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701784" y="2203704"/>
            <a:ext cx="11887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0.0141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20040" y="2478024"/>
            <a:ext cx="237744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74904" y="2514600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558A"/>
                </a:solidFill>
              </a:rPr>
              <a:t>MEAN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697480" y="2478024"/>
            <a:ext cx="128016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752344" y="2514600"/>
            <a:ext cx="11887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977639" y="2478024"/>
            <a:ext cx="128016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032503" y="2514600"/>
            <a:ext cx="11887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257800" y="2478024"/>
            <a:ext cx="118872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312664" y="2514600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558A"/>
                </a:solidFill>
              </a:rPr>
              <a:t>89.3%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46520" y="2478024"/>
            <a:ext cx="128016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501383" y="2514600"/>
            <a:ext cx="11887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558A"/>
                </a:solidFill>
              </a:rPr>
              <a:t>87.6%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726679" y="2478024"/>
            <a:ext cx="64008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781544" y="2514600"/>
            <a:ext cx="548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366759" y="2478024"/>
            <a:ext cx="128016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421624" y="2514600"/>
            <a:ext cx="11887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558A"/>
                </a:solidFill>
              </a:rPr>
              <a:t>0.917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646919" y="2478024"/>
            <a:ext cx="128016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701784" y="2514600"/>
            <a:ext cx="11887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558A"/>
                </a:solidFill>
              </a:rPr>
              <a:t>0.0123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20040" y="3429000"/>
            <a:ext cx="11521440" cy="3154680"/>
          </a:xfrm>
          <a:prstGeom prst="rect">
            <a:avLst/>
          </a:prstGeom>
          <a:solidFill>
            <a:srgbClr val="FFFFFF"/>
          </a:solidFill>
          <a:ln w="10160">
            <a:solidFill>
              <a:srgbClr val="1A5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320040" y="3429000"/>
            <a:ext cx="11521440" cy="292608"/>
          </a:xfrm>
          <a:prstGeom prst="rect">
            <a:avLst/>
          </a:prstGeom>
          <a:solidFill>
            <a:srgbClr val="D0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11479" y="3465576"/>
            <a:ext cx="11338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B55"/>
                </a:solidFill>
              </a:rPr>
              <a:t>What the Numbers Mean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29768" y="3739896"/>
            <a:ext cx="11301984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400" b="0">
                <a:solidFill>
                  <a:srgbClr val="1A1A2E"/>
                </a:solidFill>
              </a:rPr>
              <a:t>▸  Recall 89.3% — missed detections are all low-confidence (score &lt; 0.25) near FPGA threshold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1A1A2E"/>
                </a:solidFill>
              </a:rPr>
              <a:t>▸  Avg IoU 0.917 — matched boxes are &gt;91% overlapping with Python reference (near-identical boxes)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1A1A2E"/>
                </a:solidFill>
              </a:rPr>
              <a:t>▸  Avg |ΔScore| 0.0123 — scores differ by only ~1.2% due to fake-quant rounding in sigmoid inputs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1A1A2E"/>
                </a:solidFill>
              </a:rPr>
              <a:t>▸  7 total false positives across 3 images — real model outputs between score_thr 0.05 (Python) and 0.20 (FPGA)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1A1A2E"/>
                </a:solidFill>
              </a:rPr>
              <a:t>▸  No saturation artefacts (old bug produced constant 0.875 or 511.984 scores) — confirmed clean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1A1A2E"/>
                </a:solidFill>
              </a:rPr>
              <a:t>▸  Multi-class validation confirmed: GOPR has holothurian, echinus, scallop, starfish — all reproduced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HLS Code Review: 6 Issues Fixed in htdet_top.cpp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858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E8F8"/>
                </a:solidFill>
              </a:rPr>
              <a:t>Ensuring correct Vitis HLS synthesis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80160"/>
            <a:ext cx="5669280" cy="1600200"/>
          </a:xfrm>
          <a:prstGeom prst="rect">
            <a:avLst/>
          </a:prstGeom>
          <a:solidFill>
            <a:srgbClr val="FFFFFF"/>
          </a:solidFill>
          <a:ln w="8890">
            <a:solidFill>
              <a:srgbClr val="1A5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80160"/>
            <a:ext cx="411480" cy="16002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59" y="1783080"/>
            <a:ext cx="320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371600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55"/>
                </a:solidFill>
              </a:rPr>
              <a:t>Wrong weight size comments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719072"/>
            <a:ext cx="5074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Said '~5.7M × 2B ≈ 11.4MB' (INT8 estimate). Fixed to float32 actuals: backbone 19.8 MB, FPN 9.9 MB, head 18 MB.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280160"/>
            <a:ext cx="5669280" cy="1600200"/>
          </a:xfrm>
          <a:prstGeom prst="rect">
            <a:avLst/>
          </a:prstGeom>
          <a:solidFill>
            <a:srgbClr val="FFFFFF"/>
          </a:solidFill>
          <a:ln w="8890">
            <a:solidFill>
              <a:srgbClr val="1A5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280160"/>
            <a:ext cx="411480" cy="16002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59" y="1783080"/>
            <a:ext cx="320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59" y="1371600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55"/>
                </a:solidFill>
              </a:rPr>
              <a:t>P2 synthesis infeasibility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59" y="1719072"/>
            <a:ext cx="5074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P2 = 256×160×160 = 26.2 MB — too large for ZU9EG on-chip BRAM. Added explicit comment; tiling required for synthesis.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063239"/>
            <a:ext cx="5669280" cy="1600200"/>
          </a:xfrm>
          <a:prstGeom prst="rect">
            <a:avLst/>
          </a:prstGeom>
          <a:solidFill>
            <a:srgbClr val="FFFFFF"/>
          </a:solidFill>
          <a:ln w="8890">
            <a:solidFill>
              <a:srgbClr val="1A5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3063239"/>
            <a:ext cx="411480" cy="16002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59" y="3566159"/>
            <a:ext cx="320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154679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55"/>
                </a:solidFill>
              </a:rPr>
              <a:t>BRAM pragma inconsistency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502151"/>
            <a:ext cx="5074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Mixed old RESOURCE pragma with new bind_storage. Standardised all to: #pragma HLS bind_storage type=RAM_T2P impl=BRAM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3063239"/>
            <a:ext cx="5669280" cy="1600200"/>
          </a:xfrm>
          <a:prstGeom prst="rect">
            <a:avLst/>
          </a:prstGeom>
          <a:solidFill>
            <a:srgbClr val="FFFFFF"/>
          </a:solidFill>
          <a:ln w="8890">
            <a:solidFill>
              <a:srgbClr val="1A5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3063239"/>
            <a:ext cx="411480" cy="16002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59" y="3566159"/>
            <a:ext cx="320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59" y="3154679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55"/>
                </a:solidFill>
              </a:rPr>
              <a:t>Missing AXI depths on debug kernels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59" y="3502151"/>
            <a:ext cx="5074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htdet_backbone_only / htdet_fpn_only had no depth= on m_axi ports → Vitis defaulted to depth=1. Added correct depths.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4846320"/>
            <a:ext cx="5669280" cy="1600200"/>
          </a:xfrm>
          <a:prstGeom prst="rect">
            <a:avLst/>
          </a:prstGeom>
          <a:solidFill>
            <a:srgbClr val="FFFFFF"/>
          </a:solidFill>
          <a:ln w="8890">
            <a:solidFill>
              <a:srgbClr val="1A5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4846320"/>
            <a:ext cx="411480" cy="16002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59" y="5349240"/>
            <a:ext cx="320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4937759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55"/>
                </a:solidFill>
              </a:rPr>
              <a:t>FPN-only kernel had no m_axi interface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285231"/>
            <a:ext cx="5074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htdet_fpn_only used only bind_storage — unsynthesisable as standalone kernel. Added m_axi for all c1-c4 and p2-p6 ports.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4846320"/>
            <a:ext cx="5669280" cy="1600200"/>
          </a:xfrm>
          <a:prstGeom prst="rect">
            <a:avLst/>
          </a:prstGeom>
          <a:solidFill>
            <a:srgbClr val="FFFFFF"/>
          </a:solidFill>
          <a:ln w="8890">
            <a:solidFill>
              <a:srgbClr val="1A5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63640" y="4846320"/>
            <a:ext cx="411480" cy="16002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59" y="5349240"/>
            <a:ext cx="320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59" y="4937759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55"/>
                </a:solidFill>
              </a:rPr>
              <a:t>No DATAFLOW pragma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59" y="5285231"/>
            <a:ext cx="5074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2E"/>
                </a:solidFill>
              </a:rPr>
              <a:t>Backbone→FPN→Head run sequentially. #pragma HLS DATAFLOW needed at htdet_full to pipeline stages for higher throughput.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Pruned Model Variants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858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E8F8"/>
                </a:solidFill>
              </a:rPr>
              <a:t>Three reduced-complexity models for tighter FPGA budgets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2560320" cy="310896"/>
          </a:xfrm>
          <a:prstGeom prst="rect">
            <a:avLst/>
          </a:prstGeom>
          <a:solidFill>
            <a:srgbClr val="1A5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4" y="1280160"/>
            <a:ext cx="24688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2880360" y="1234440"/>
            <a:ext cx="2377440" cy="310896"/>
          </a:xfrm>
          <a:prstGeom prst="rect">
            <a:avLst/>
          </a:prstGeom>
          <a:solidFill>
            <a:srgbClr val="1A5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35224" y="1280160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FPN/Head Channels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57800" y="1234440"/>
            <a:ext cx="2377440" cy="310896"/>
          </a:xfrm>
          <a:prstGeom prst="rect">
            <a:avLst/>
          </a:prstGeom>
          <a:solidFill>
            <a:srgbClr val="1A5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12664" y="1280160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Total GFLOPs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35240" y="1234440"/>
            <a:ext cx="2103120" cy="310896"/>
          </a:xfrm>
          <a:prstGeom prst="rect">
            <a:avLst/>
          </a:prstGeom>
          <a:solidFill>
            <a:srgbClr val="1A5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90104" y="1280160"/>
            <a:ext cx="20116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mAP@50 (est.)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738359" y="1234440"/>
            <a:ext cx="2103120" cy="310896"/>
          </a:xfrm>
          <a:prstGeom prst="rect">
            <a:avLst/>
          </a:prstGeom>
          <a:solidFill>
            <a:srgbClr val="1A5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93224" y="1280160"/>
            <a:ext cx="20116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mAP (est.)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1545336"/>
            <a:ext cx="256032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4" y="1581912"/>
            <a:ext cx="24688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2E"/>
                </a:solidFill>
              </a:rPr>
              <a:t>Full HTDet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80360" y="1545336"/>
            <a:ext cx="237744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35224" y="158191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2E"/>
                </a:solidFill>
              </a:rPr>
              <a:t>256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57800" y="1545336"/>
            <a:ext cx="237744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12664" y="1581912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2E"/>
                </a:solidFill>
              </a:rPr>
              <a:t>198.9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35240" y="1545336"/>
            <a:ext cx="210312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90104" y="1581912"/>
            <a:ext cx="20116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558A"/>
                </a:solidFill>
              </a:rPr>
              <a:t>0.755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38359" y="1545336"/>
            <a:ext cx="210312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93224" y="1581912"/>
            <a:ext cx="20116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558A"/>
                </a:solidFill>
              </a:rPr>
              <a:t>0.408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1856232"/>
            <a:ext cx="256032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4904" y="1892808"/>
            <a:ext cx="24688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2E"/>
                </a:solidFill>
              </a:rPr>
              <a:t>Low-GFLOPs 224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80360" y="1856232"/>
            <a:ext cx="237744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35224" y="1892808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2E"/>
                </a:solidFill>
              </a:rPr>
              <a:t>224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57800" y="1856232"/>
            <a:ext cx="237744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12664" y="1892808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2E"/>
                </a:solidFill>
              </a:rPr>
              <a:t>~168 (−15%)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35240" y="1856232"/>
            <a:ext cx="210312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90104" y="1892808"/>
            <a:ext cx="20116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2E"/>
                </a:solidFill>
              </a:rPr>
              <a:t>~0.74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738359" y="1856232"/>
            <a:ext cx="210312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93224" y="1892808"/>
            <a:ext cx="20116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2E"/>
                </a:solidFill>
              </a:rPr>
              <a:t>~0.40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2167128"/>
            <a:ext cx="256032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4" y="2203704"/>
            <a:ext cx="24688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2E"/>
                </a:solidFill>
              </a:rPr>
              <a:t>Low-GFLOPs 192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880360" y="2167128"/>
            <a:ext cx="237744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35224" y="2203704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2E"/>
                </a:solidFill>
              </a:rPr>
              <a:t>192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57800" y="2167128"/>
            <a:ext cx="237744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12664" y="2203704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2E"/>
                </a:solidFill>
              </a:rPr>
              <a:t>~142 (−29%)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635240" y="2167128"/>
            <a:ext cx="210312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90104" y="2203704"/>
            <a:ext cx="20116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2E"/>
                </a:solidFill>
              </a:rPr>
              <a:t>~0.72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738359" y="2167128"/>
            <a:ext cx="2103120" cy="310896"/>
          </a:xfrm>
          <a:prstGeom prst="rect">
            <a:avLst/>
          </a:prstGeom>
          <a:solidFill>
            <a:srgbClr val="F4F6F8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793224" y="2203704"/>
            <a:ext cx="20116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2E"/>
                </a:solidFill>
              </a:rPr>
              <a:t>~0.38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2478024"/>
            <a:ext cx="256032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4904" y="2514600"/>
            <a:ext cx="24688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2E"/>
                </a:solidFill>
              </a:rPr>
              <a:t>Channel-Pruned 0.7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880360" y="2478024"/>
            <a:ext cx="237744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935224" y="2514600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2E"/>
                </a:solidFill>
              </a:rPr>
              <a:t>256 (FPN/head)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257800" y="2478024"/>
            <a:ext cx="237744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312664" y="2514600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2E"/>
                </a:solidFill>
              </a:rPr>
              <a:t>~110 (−45%)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635240" y="2478024"/>
            <a:ext cx="210312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90104" y="2514600"/>
            <a:ext cx="20116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2E"/>
                </a:solidFill>
              </a:rPr>
              <a:t>~0.71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738359" y="2478024"/>
            <a:ext cx="210312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0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93224" y="2514600"/>
            <a:ext cx="20116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2E"/>
                </a:solidFill>
              </a:rPr>
              <a:t>~0.36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0040" y="3520440"/>
            <a:ext cx="11521440" cy="3017520"/>
          </a:xfrm>
          <a:prstGeom prst="rect">
            <a:avLst/>
          </a:prstGeom>
          <a:solidFill>
            <a:srgbClr val="FFFFFF"/>
          </a:solidFill>
          <a:ln w="10160">
            <a:solidFill>
              <a:srgbClr val="1A5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20040" y="3520440"/>
            <a:ext cx="11521440" cy="292608"/>
          </a:xfrm>
          <a:prstGeom prst="rect">
            <a:avLst/>
          </a:prstGeom>
          <a:solidFill>
            <a:srgbClr val="D0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11479" y="3557016"/>
            <a:ext cx="11338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B55"/>
                </a:solidFill>
              </a:rPr>
              <a:t>Trade-Off Analysis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29768" y="3831336"/>
            <a:ext cx="11301984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300" b="0">
                <a:solidFill>
                  <a:srgbClr val="1A1A2E"/>
                </a:solidFill>
              </a:rPr>
              <a:t>▸  Low-GFLOPs 224: 12.5% channel reduction → ~15% GFLOPs saving, ~1% mAP@50 penalty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1A1A2E"/>
                </a:solidFill>
              </a:rPr>
              <a:t>▸  Low-GFLOPs 192: 25% channel reduction → ~29% GFLOPs saving, ~3% mAP@50 penalty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1A1A2E"/>
                </a:solidFill>
              </a:rPr>
              <a:t>▸    Both fine-tuned from shared 42-epoch init checkpoint at lr=0.001 for 60 epochs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1A1A2E"/>
                </a:solidFill>
              </a:rPr>
              <a:t>▸  Channel-Pruned: width_mult=0.7 → backbone channels [11,22,44,88,176]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1A1A2E"/>
                </a:solidFill>
              </a:rPr>
              <a:t>▸    Trained from random init (no pretrained weights) — slower convergence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1A1A2E"/>
                </a:solidFill>
              </a:rPr>
              <a:t>▸    ~45% GFLOPs reduction but FPN/head stays 256ch to limit detection quality loss</a:t>
            </a:r>
          </a:p>
          <a:p>
            <a:pPr algn="l">
              <a:spcBef>
                <a:spcPts val="200"/>
              </a:spcBef>
            </a:pPr>
            <a:r>
              <a:rPr sz="1300" b="0">
                <a:solidFill>
                  <a:srgbClr val="1A1A2E"/>
                </a:solidFill>
              </a:rPr>
              <a:t>▸  GFLOPs scale ∝ (channels)² for conv layers — 192/256 ratio gives 0.56× GFLOPs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FPGA Deployment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858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E8F8"/>
                </a:solidFill>
              </a:rPr>
              <a:t>From C-sim validation to working ZU9EG bitstream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2194560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C-sim
Validated 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51460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3 images, 89.3% recall, 0.917 IoU. All bugs fixed.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558A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1760" y="1371600"/>
            <a:ext cx="2194560" cy="1005840"/>
          </a:xfrm>
          <a:prstGeom prst="rect">
            <a:avLst/>
          </a:prstGeom>
          <a:solidFill>
            <a:srgbClr val="1A5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146304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ap_fixed
Types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51460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Replace bbox_t=float → ap_fixed&lt;24,12&gt;
score_t=float → ap_fixed&lt;16,4&gt;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558A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0" y="1371600"/>
            <a:ext cx="2194560" cy="1005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146304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DATAFLOW
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251460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#pragma HLS DATAFLOW at htdet_full
Decompose into producer/consumer tasks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558A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23760" y="1371600"/>
            <a:ext cx="2194560" cy="10058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0" y="146304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1A2E"/>
                </a:solidFill>
              </a:rPr>
              <a:t>P2 Tiling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251460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P2=26.2MB &gt; ZU9EG BRAM budget
Process in spatial tiles through head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558A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09760" y="1371600"/>
            <a:ext cx="2194560" cy="1005840"/>
          </a:xfrm>
          <a:prstGeom prst="rect">
            <a:avLst/>
          </a:prstGeom>
          <a:solidFill>
            <a:srgbClr val="1A5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0" y="146304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HLS
Synthesis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251460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Run Vitis HLS, check timing/resources
Target: 200 MHz, &lt;60 ms latency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703320"/>
            <a:ext cx="11521440" cy="2834640"/>
          </a:xfrm>
          <a:prstGeom prst="rect">
            <a:avLst/>
          </a:prstGeom>
          <a:solidFill>
            <a:srgbClr val="FFFFFF"/>
          </a:solidFill>
          <a:ln w="10160">
            <a:solidFill>
              <a:srgbClr val="1A5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3703320"/>
            <a:ext cx="11521440" cy="292608"/>
          </a:xfrm>
          <a:prstGeom prst="rect">
            <a:avLst/>
          </a:prstGeom>
          <a:solidFill>
            <a:srgbClr val="D0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79" y="3739896"/>
            <a:ext cx="11338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B55"/>
                </a:solidFill>
              </a:rPr>
              <a:t>Remaining Synthesis &amp; Validation Work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" y="4014215"/>
            <a:ext cx="11301984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400" b="0">
                <a:solidFill>
                  <a:srgbClr val="1A1A2E"/>
                </a:solidFill>
              </a:rPr>
              <a:t>▸  FPN fake_quant: add fake_quant_buf() after top-down additions (lat3 += up4, etc.)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1A1A2E"/>
                </a:solidFill>
              </a:rPr>
              <a:t>▸  QAT (optional): 5–10 epochs quantization-aware training to recover the ~1.2% score delta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1A1A2E"/>
                </a:solidFill>
              </a:rPr>
              <a:t>▸  Per-channel activation quantization: replace per-tensor act scales in retina_cls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1A1A2E"/>
                </a:solidFill>
              </a:rPr>
              <a:t>▸  Vivado implementation: place-and-route, power analysis, timing closure at 200 MHz</a:t>
            </a:r>
          </a:p>
          <a:p>
            <a:pPr algn="l">
              <a:spcBef>
                <a:spcPts val="200"/>
              </a:spcBef>
            </a:pPr>
            <a:r>
              <a:rPr sz="1400" b="0">
                <a:solidFill>
                  <a:srgbClr val="1A1A2E"/>
                </a:solidFill>
              </a:rPr>
              <a:t>▸  Board validation: deploy to ZU9EG board, capture camera frames, compare vs PyTorch output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Full Results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858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E8F8"/>
                </a:solidFill>
              </a:rPr>
              <a:t>All key metrics at a glance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5303520" cy="2743200"/>
          </a:xfrm>
          <a:prstGeom prst="rect">
            <a:avLst/>
          </a:prstGeom>
          <a:solidFill>
            <a:srgbClr val="FFFFFF"/>
          </a:solidFill>
          <a:ln w="10160">
            <a:solidFill>
              <a:srgbClr val="1A5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5303520" cy="292608"/>
          </a:xfrm>
          <a:prstGeom prst="rect">
            <a:avLst/>
          </a:prstGeom>
          <a:solidFill>
            <a:srgbClr val="1A5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26187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mAP Accuracy (800 val images)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00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558A"/>
                </a:solidFill>
              </a:rPr>
              <a:t>Model              mAP@50   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202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Float32 baseline      0.755    0.408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231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W8A32 PTQ             0.753    0.407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260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W8A8 PTQ              0.753    0.407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97880" y="1234440"/>
            <a:ext cx="5943600" cy="2743200"/>
          </a:xfrm>
          <a:prstGeom prst="rect">
            <a:avLst/>
          </a:prstGeom>
          <a:solidFill>
            <a:srgbClr val="FFFFFF"/>
          </a:solidFill>
          <a:ln w="10160">
            <a:solidFill>
              <a:srgbClr val="1A5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97880" y="1234440"/>
            <a:ext cx="5943600" cy="292608"/>
          </a:xfrm>
          <a:prstGeom prst="rect">
            <a:avLst/>
          </a:prstGeom>
          <a:solidFill>
            <a:srgbClr val="1A5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07608" y="1261872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C-Sim W8A8 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160020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558A"/>
                </a:solidFill>
              </a:rPr>
              <a:t>Image           Recall   Prec   AvgIoU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192024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YDXJ (7 ref)       100.0%  87.5%  0.932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242316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CHN (37 ref)        83.8%  91.2%  0.911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292608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GOPR (19 ref)       84.2%  84.2%  0.908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342900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58A"/>
                </a:solidFill>
              </a:rPr>
              <a:t>MEAN                89.3%  87.6%  0.917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160520"/>
            <a:ext cx="5303520" cy="2468880"/>
          </a:xfrm>
          <a:prstGeom prst="rect">
            <a:avLst/>
          </a:prstGeom>
          <a:solidFill>
            <a:srgbClr val="FFFFFF"/>
          </a:solidFill>
          <a:ln w="10160">
            <a:solidFill>
              <a:srgbClr val="1A5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4160520"/>
            <a:ext cx="5303520" cy="2926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" y="418795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FPGA Resource Savings (W8A8 vs FP32)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5262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58A"/>
                </a:solidFill>
              </a:rPr>
              <a:t>Metric            FP32        W8A8    Saving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86460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Conv weight memory    49.7 MB    9.49 MB   5.2×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20293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Activation memory     34.9 MB    8.73 MB   4×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54126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BRAM36 (est.)         ~19,257    ~4,147    −78%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87959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DSPs per PE           ~24        ~2        −92%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21792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Est. latency          ~500 ms    ~40-60ms  8–12×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97880" y="4160520"/>
            <a:ext cx="5943600" cy="2468880"/>
          </a:xfrm>
          <a:prstGeom prst="rect">
            <a:avLst/>
          </a:prstGeom>
          <a:solidFill>
            <a:srgbClr val="FFFFFF"/>
          </a:solidFill>
          <a:ln w="10160">
            <a:solidFill>
              <a:srgbClr val="1A5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897880" y="4160520"/>
            <a:ext cx="5943600" cy="2926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07608" y="4187952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C-Sim Runtime (OpenMP)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0" y="4553712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62828"/>
                </a:solidFill>
              </a:rPr>
              <a:t>Single-threaded:    ~51 minutes / image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40" y="5010912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D32"/>
                </a:solidFill>
              </a:rPr>
              <a:t>OpenMP (-fopenmp):  ~4 min 54 sec / image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0" y="5468112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58A"/>
                </a:solidFill>
              </a:rPr>
              <a:t>Speedup: ~10×   CPU utilisation: ~1881% (~18.8 cores)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35040" y="5925312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A1A2E"/>
                </a:solidFill>
              </a:rPr>
              <a:t>Compiled: g++ -O3 -std=c++17 -fopenmp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577840"/>
            <a:ext cx="12188952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Conclusion &amp; Key Contributions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5623560" cy="1170432"/>
          </a:xfrm>
          <a:prstGeom prst="rect">
            <a:avLst/>
          </a:prstGeom>
          <a:solidFill>
            <a:srgbClr val="12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109728" cy="11704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50876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A623"/>
                </a:solidFill>
              </a:rPr>
              <a:t>0.755 mAP@50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892808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0E8F8"/>
                </a:solidFill>
              </a:rPr>
              <a:t>State-of-the-art on URPC 2018 with only 12.4 M parameters — beats ResNet-50 Faster RCNN (41.4 M)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5623560" cy="1170432"/>
          </a:xfrm>
          <a:prstGeom prst="rect">
            <a:avLst/>
          </a:prstGeom>
          <a:solidFill>
            <a:srgbClr val="12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417320"/>
            <a:ext cx="109728" cy="11704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150876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A623"/>
                </a:solidFill>
              </a:rPr>
              <a:t>W8A8 = W8A32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1892808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0E8F8"/>
                </a:solidFill>
              </a:rPr>
              <a:t>Post-training quantization to INT8 weights + INT8 activations with zero accuracy loss vs W8A32 (0.753 both)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743200"/>
            <a:ext cx="5623560" cy="1170432"/>
          </a:xfrm>
          <a:prstGeom prst="rect">
            <a:avLst/>
          </a:prstGeom>
          <a:solidFill>
            <a:srgbClr val="12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2743200"/>
            <a:ext cx="109728" cy="11704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28346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A623"/>
                </a:solidFill>
              </a:rPr>
              <a:t>89.3% C-sim recall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218688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0E8F8"/>
                </a:solidFill>
              </a:rPr>
              <a:t>W8A8 C-simulation reproduces 89.3% of Python detections with 0.917 avg IoU across 3 validation images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2743200"/>
            <a:ext cx="5623560" cy="1170432"/>
          </a:xfrm>
          <a:prstGeom prst="rect">
            <a:avLst/>
          </a:prstGeom>
          <a:solidFill>
            <a:srgbClr val="12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2743200"/>
            <a:ext cx="109728" cy="11704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4808" y="28346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A623"/>
                </a:solidFill>
              </a:rPr>
              <a:t>2 critical bugs fixed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8" y="3218688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0E8F8"/>
                </a:solidFill>
              </a:rPr>
              <a:t>topK raster-order truncation and exp-clamp width — both silently corrupted results before fix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069080"/>
            <a:ext cx="5623560" cy="1170432"/>
          </a:xfrm>
          <a:prstGeom prst="rect">
            <a:avLst/>
          </a:prstGeom>
          <a:solidFill>
            <a:srgbClr val="12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4069080"/>
            <a:ext cx="109728" cy="11704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41605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A623"/>
                </a:solidFill>
              </a:rPr>
              <a:t>10× OpenMP speedup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4544568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0E8F8"/>
                </a:solidFill>
              </a:rPr>
              <a:t>#pragma omp parallel for on outer OC loops: 51 min → 4:54 per image, ~18.8 cores avg utilisation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4069080"/>
            <a:ext cx="5623560" cy="1170432"/>
          </a:xfrm>
          <a:prstGeom prst="rect">
            <a:avLst/>
          </a:prstGeom>
          <a:solidFill>
            <a:srgbClr val="12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4069080"/>
            <a:ext cx="109728" cy="11704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64808" y="41605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A623"/>
                </a:solidFill>
              </a:rPr>
              <a:t>FPGA-ready C/HLS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64808" y="4544568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0E8F8"/>
                </a:solidFill>
              </a:rPr>
              <a:t>Complete HLS implementation with all 6 code-review issues fixed; synthesis path defined (DATAFLOW, tiling, ap_fixed)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687568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D0E8F8"/>
                </a:solidFill>
              </a:rPr>
              <a:t>Next: DATAFLOW pipelining  ·  P2 tiling  ·  ap_fixed type replacement  ·  Vivado synthesis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